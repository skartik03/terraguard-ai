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2" r:id="rId3"/>
    <p:sldId id="263" r:id="rId4"/>
    <p:sldId id="264" r:id="rId5"/>
    <p:sldId id="257" r:id="rId6"/>
    <p:sldId id="258" r:id="rId7"/>
    <p:sldId id="265" r:id="rId8"/>
    <p:sldId id="266" r:id="rId9"/>
    <p:sldId id="261"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iksonawane3333@gmail.com" userId="f542782a0cc84209" providerId="LiveId" clId="{A84BC9FB-1D64-44E8-AFA8-22226508B5B9}"/>
    <pc:docChg chg="custSel modSld">
      <pc:chgData name="kartiksonawane3333@gmail.com" userId="f542782a0cc84209" providerId="LiveId" clId="{A84BC9FB-1D64-44E8-AFA8-22226508B5B9}" dt="2026-09-18T06:44:54.898" v="171" actId="478"/>
      <pc:docMkLst>
        <pc:docMk/>
      </pc:docMkLst>
      <pc:sldChg chg="delSp modSp mod">
        <pc:chgData name="kartiksonawane3333@gmail.com" userId="f542782a0cc84209" providerId="LiveId" clId="{A84BC9FB-1D64-44E8-AFA8-22226508B5B9}" dt="2026-09-18T06:42:38.258" v="45" actId="20577"/>
        <pc:sldMkLst>
          <pc:docMk/>
          <pc:sldMk cId="0" sldId="256"/>
        </pc:sldMkLst>
        <pc:spChg chg="mod">
          <ac:chgData name="kartiksonawane3333@gmail.com" userId="f542782a0cc84209" providerId="LiveId" clId="{A84BC9FB-1D64-44E8-AFA8-22226508B5B9}" dt="2026-09-18T06:42:38.258" v="45" actId="20577"/>
          <ac:spMkLst>
            <pc:docMk/>
            <pc:sldMk cId="0" sldId="256"/>
            <ac:spMk id="5" creationId="{00000000-0000-0000-0000-000000000000}"/>
          </ac:spMkLst>
        </pc:spChg>
        <pc:spChg chg="del">
          <ac:chgData name="kartiksonawane3333@gmail.com" userId="f542782a0cc84209" providerId="LiveId" clId="{A84BC9FB-1D64-44E8-AFA8-22226508B5B9}" dt="2026-09-18T06:41:48.897" v="0" actId="478"/>
          <ac:spMkLst>
            <pc:docMk/>
            <pc:sldMk cId="0" sldId="256"/>
            <ac:spMk id="7" creationId="{00000000-0000-0000-0000-000000000000}"/>
          </ac:spMkLst>
        </pc:spChg>
      </pc:sldChg>
      <pc:sldChg chg="delSp modSp mod">
        <pc:chgData name="kartiksonawane3333@gmail.com" userId="f542782a0cc84209" providerId="LiveId" clId="{A84BC9FB-1D64-44E8-AFA8-22226508B5B9}" dt="2026-09-18T06:43:38.550" v="107" actId="113"/>
        <pc:sldMkLst>
          <pc:docMk/>
          <pc:sldMk cId="0" sldId="257"/>
        </pc:sldMkLst>
        <pc:spChg chg="mod">
          <ac:chgData name="kartiksonawane3333@gmail.com" userId="f542782a0cc84209" providerId="LiveId" clId="{A84BC9FB-1D64-44E8-AFA8-22226508B5B9}" dt="2026-09-18T06:43:38.550" v="107" actId="113"/>
          <ac:spMkLst>
            <pc:docMk/>
            <pc:sldMk cId="0" sldId="257"/>
            <ac:spMk id="5" creationId="{00000000-0000-0000-0000-000000000000}"/>
          </ac:spMkLst>
        </pc:spChg>
        <pc:spChg chg="del">
          <ac:chgData name="kartiksonawane3333@gmail.com" userId="f542782a0cc84209" providerId="LiveId" clId="{A84BC9FB-1D64-44E8-AFA8-22226508B5B9}" dt="2026-09-18T06:42:09.639" v="4" actId="478"/>
          <ac:spMkLst>
            <pc:docMk/>
            <pc:sldMk cId="0" sldId="257"/>
            <ac:spMk id="9" creationId="{00000000-0000-0000-0000-000000000000}"/>
          </ac:spMkLst>
        </pc:spChg>
        <pc:spChg chg="del">
          <ac:chgData name="kartiksonawane3333@gmail.com" userId="f542782a0cc84209" providerId="LiveId" clId="{A84BC9FB-1D64-44E8-AFA8-22226508B5B9}" dt="2026-09-18T06:42:11.890" v="5" actId="478"/>
          <ac:spMkLst>
            <pc:docMk/>
            <pc:sldMk cId="0" sldId="257"/>
            <ac:spMk id="10" creationId="{00000000-0000-0000-0000-000000000000}"/>
          </ac:spMkLst>
        </pc:spChg>
      </pc:sldChg>
      <pc:sldChg chg="delSp modSp mod">
        <pc:chgData name="kartiksonawane3333@gmail.com" userId="f542782a0cc84209" providerId="LiveId" clId="{A84BC9FB-1D64-44E8-AFA8-22226508B5B9}" dt="2026-09-18T06:44:00.525" v="122" actId="478"/>
        <pc:sldMkLst>
          <pc:docMk/>
          <pc:sldMk cId="0" sldId="258"/>
        </pc:sldMkLst>
        <pc:spChg chg="mod">
          <ac:chgData name="kartiksonawane3333@gmail.com" userId="f542782a0cc84209" providerId="LiveId" clId="{A84BC9FB-1D64-44E8-AFA8-22226508B5B9}" dt="2026-09-18T06:43:49.028" v="121" actId="20577"/>
          <ac:spMkLst>
            <pc:docMk/>
            <pc:sldMk cId="0" sldId="258"/>
            <ac:spMk id="5" creationId="{00000000-0000-0000-0000-000000000000}"/>
          </ac:spMkLst>
        </pc:spChg>
        <pc:spChg chg="del">
          <ac:chgData name="kartiksonawane3333@gmail.com" userId="f542782a0cc84209" providerId="LiveId" clId="{A84BC9FB-1D64-44E8-AFA8-22226508B5B9}" dt="2026-09-18T06:44:00.525" v="122" actId="478"/>
          <ac:spMkLst>
            <pc:docMk/>
            <pc:sldMk cId="0" sldId="258"/>
            <ac:spMk id="9" creationId="{00000000-0000-0000-0000-000000000000}"/>
          </ac:spMkLst>
        </pc:spChg>
        <pc:spChg chg="del">
          <ac:chgData name="kartiksonawane3333@gmail.com" userId="f542782a0cc84209" providerId="LiveId" clId="{A84BC9FB-1D64-44E8-AFA8-22226508B5B9}" dt="2026-09-18T06:44:00.525" v="122" actId="478"/>
          <ac:spMkLst>
            <pc:docMk/>
            <pc:sldMk cId="0" sldId="258"/>
            <ac:spMk id="10" creationId="{00000000-0000-0000-0000-000000000000}"/>
          </ac:spMkLst>
        </pc:spChg>
      </pc:sldChg>
      <pc:sldChg chg="delSp modSp mod">
        <pc:chgData name="kartiksonawane3333@gmail.com" userId="f542782a0cc84209" providerId="LiveId" clId="{A84BC9FB-1D64-44E8-AFA8-22226508B5B9}" dt="2026-09-18T06:44:54.898" v="171" actId="478"/>
        <pc:sldMkLst>
          <pc:docMk/>
          <pc:sldMk cId="0" sldId="261"/>
        </pc:sldMkLst>
        <pc:spChg chg="mod">
          <ac:chgData name="kartiksonawane3333@gmail.com" userId="f542782a0cc84209" providerId="LiveId" clId="{A84BC9FB-1D64-44E8-AFA8-22226508B5B9}" dt="2026-09-18T06:44:46.686" v="170" actId="113"/>
          <ac:spMkLst>
            <pc:docMk/>
            <pc:sldMk cId="0" sldId="261"/>
            <ac:spMk id="5" creationId="{00000000-0000-0000-0000-000000000000}"/>
          </ac:spMkLst>
        </pc:spChg>
        <pc:spChg chg="del">
          <ac:chgData name="kartiksonawane3333@gmail.com" userId="f542782a0cc84209" providerId="LiveId" clId="{A84BC9FB-1D64-44E8-AFA8-22226508B5B9}" dt="2026-09-18T06:44:54.898" v="171" actId="478"/>
          <ac:spMkLst>
            <pc:docMk/>
            <pc:sldMk cId="0" sldId="261"/>
            <ac:spMk id="9" creationId="{00000000-0000-0000-0000-000000000000}"/>
          </ac:spMkLst>
        </pc:spChg>
        <pc:spChg chg="del">
          <ac:chgData name="kartiksonawane3333@gmail.com" userId="f542782a0cc84209" providerId="LiveId" clId="{A84BC9FB-1D64-44E8-AFA8-22226508B5B9}" dt="2026-09-18T06:44:54.898" v="171" actId="478"/>
          <ac:spMkLst>
            <pc:docMk/>
            <pc:sldMk cId="0" sldId="261"/>
            <ac:spMk id="10" creationId="{00000000-0000-0000-0000-000000000000}"/>
          </ac:spMkLst>
        </pc:spChg>
      </pc:sldChg>
      <pc:sldChg chg="delSp modSp mod">
        <pc:chgData name="kartiksonawane3333@gmail.com" userId="f542782a0cc84209" providerId="LiveId" clId="{A84BC9FB-1D64-44E8-AFA8-22226508B5B9}" dt="2026-09-18T06:42:50.331" v="59" actId="20577"/>
        <pc:sldMkLst>
          <pc:docMk/>
          <pc:sldMk cId="0" sldId="262"/>
        </pc:sldMkLst>
        <pc:spChg chg="mod">
          <ac:chgData name="kartiksonawane3333@gmail.com" userId="f542782a0cc84209" providerId="LiveId" clId="{A84BC9FB-1D64-44E8-AFA8-22226508B5B9}" dt="2026-09-18T06:42:50.331" v="59" actId="20577"/>
          <ac:spMkLst>
            <pc:docMk/>
            <pc:sldMk cId="0" sldId="262"/>
            <ac:spMk id="37" creationId="{E1D707B9-B2D9-36D3-F6A9-11F236B3E8BF}"/>
          </ac:spMkLst>
        </pc:spChg>
        <pc:spChg chg="del">
          <ac:chgData name="kartiksonawane3333@gmail.com" userId="f542782a0cc84209" providerId="LiveId" clId="{A84BC9FB-1D64-44E8-AFA8-22226508B5B9}" dt="2026-09-18T06:41:53.561" v="1" actId="478"/>
          <ac:spMkLst>
            <pc:docMk/>
            <pc:sldMk cId="0" sldId="262"/>
            <ac:spMk id="39" creationId="{ACC0990F-B517-1A6E-703D-347954572FF4}"/>
          </ac:spMkLst>
        </pc:spChg>
      </pc:sldChg>
      <pc:sldChg chg="delSp modSp mod">
        <pc:chgData name="kartiksonawane3333@gmail.com" userId="f542782a0cc84209" providerId="LiveId" clId="{A84BC9FB-1D64-44E8-AFA8-22226508B5B9}" dt="2026-09-18T06:43:04.232" v="75" actId="20577"/>
        <pc:sldMkLst>
          <pc:docMk/>
          <pc:sldMk cId="3253340367" sldId="263"/>
        </pc:sldMkLst>
        <pc:spChg chg="mod">
          <ac:chgData name="kartiksonawane3333@gmail.com" userId="f542782a0cc84209" providerId="LiveId" clId="{A84BC9FB-1D64-44E8-AFA8-22226508B5B9}" dt="2026-09-18T06:43:04.232" v="75" actId="20577"/>
          <ac:spMkLst>
            <pc:docMk/>
            <pc:sldMk cId="3253340367" sldId="263"/>
            <ac:spMk id="37" creationId="{7791B5FB-C1EF-09BC-0CC7-07D444B89A0A}"/>
          </ac:spMkLst>
        </pc:spChg>
        <pc:spChg chg="del">
          <ac:chgData name="kartiksonawane3333@gmail.com" userId="f542782a0cc84209" providerId="LiveId" clId="{A84BC9FB-1D64-44E8-AFA8-22226508B5B9}" dt="2026-09-18T06:42:00.193" v="2" actId="478"/>
          <ac:spMkLst>
            <pc:docMk/>
            <pc:sldMk cId="3253340367" sldId="263"/>
            <ac:spMk id="39" creationId="{EB8F4898-F8A0-A847-1861-AD95A9B02781}"/>
          </ac:spMkLst>
        </pc:spChg>
      </pc:sldChg>
      <pc:sldChg chg="delSp modSp mod">
        <pc:chgData name="kartiksonawane3333@gmail.com" userId="f542782a0cc84209" providerId="LiveId" clId="{A84BC9FB-1D64-44E8-AFA8-22226508B5B9}" dt="2026-09-18T06:43:17.272" v="91" actId="113"/>
        <pc:sldMkLst>
          <pc:docMk/>
          <pc:sldMk cId="2400591178" sldId="264"/>
        </pc:sldMkLst>
        <pc:spChg chg="mod">
          <ac:chgData name="kartiksonawane3333@gmail.com" userId="f542782a0cc84209" providerId="LiveId" clId="{A84BC9FB-1D64-44E8-AFA8-22226508B5B9}" dt="2026-09-18T06:43:17.272" v="91" actId="113"/>
          <ac:spMkLst>
            <pc:docMk/>
            <pc:sldMk cId="2400591178" sldId="264"/>
            <ac:spMk id="37" creationId="{5E22A298-34AF-ADE1-556B-260B028BAAC9}"/>
          </ac:spMkLst>
        </pc:spChg>
        <pc:spChg chg="del">
          <ac:chgData name="kartiksonawane3333@gmail.com" userId="f542782a0cc84209" providerId="LiveId" clId="{A84BC9FB-1D64-44E8-AFA8-22226508B5B9}" dt="2026-09-18T06:42:05.364" v="3" actId="478"/>
          <ac:spMkLst>
            <pc:docMk/>
            <pc:sldMk cId="2400591178" sldId="264"/>
            <ac:spMk id="39" creationId="{E0C44E15-07BA-6E34-EF2F-1A2BE820CF1A}"/>
          </ac:spMkLst>
        </pc:spChg>
      </pc:sldChg>
      <pc:sldChg chg="delSp modSp mod">
        <pc:chgData name="kartiksonawane3333@gmail.com" userId="f542782a0cc84209" providerId="LiveId" clId="{A84BC9FB-1D64-44E8-AFA8-22226508B5B9}" dt="2026-09-18T06:44:20.361" v="137" actId="478"/>
        <pc:sldMkLst>
          <pc:docMk/>
          <pc:sldMk cId="3441534922" sldId="265"/>
        </pc:sldMkLst>
        <pc:spChg chg="mod">
          <ac:chgData name="kartiksonawane3333@gmail.com" userId="f542782a0cc84209" providerId="LiveId" clId="{A84BC9FB-1D64-44E8-AFA8-22226508B5B9}" dt="2026-09-18T06:44:13.183" v="136" actId="20577"/>
          <ac:spMkLst>
            <pc:docMk/>
            <pc:sldMk cId="3441534922" sldId="265"/>
            <ac:spMk id="5" creationId="{D377BD3A-BB4C-BC9B-F6FE-5760F6FBEEA9}"/>
          </ac:spMkLst>
        </pc:spChg>
        <pc:spChg chg="del">
          <ac:chgData name="kartiksonawane3333@gmail.com" userId="f542782a0cc84209" providerId="LiveId" clId="{A84BC9FB-1D64-44E8-AFA8-22226508B5B9}" dt="2026-09-18T06:44:20.361" v="137" actId="478"/>
          <ac:spMkLst>
            <pc:docMk/>
            <pc:sldMk cId="3441534922" sldId="265"/>
            <ac:spMk id="7" creationId="{6E71C1EA-FF6F-FAB9-5E55-1CAF3ACB7ABE}"/>
          </ac:spMkLst>
        </pc:spChg>
      </pc:sldChg>
      <pc:sldChg chg="delSp modSp mod">
        <pc:chgData name="kartiksonawane3333@gmail.com" userId="f542782a0cc84209" providerId="LiveId" clId="{A84BC9FB-1D64-44E8-AFA8-22226508B5B9}" dt="2026-09-18T06:44:35.247" v="154" actId="478"/>
        <pc:sldMkLst>
          <pc:docMk/>
          <pc:sldMk cId="1366675542" sldId="266"/>
        </pc:sldMkLst>
        <pc:spChg chg="mod">
          <ac:chgData name="kartiksonawane3333@gmail.com" userId="f542782a0cc84209" providerId="LiveId" clId="{A84BC9FB-1D64-44E8-AFA8-22226508B5B9}" dt="2026-09-18T06:44:31.862" v="153" actId="113"/>
          <ac:spMkLst>
            <pc:docMk/>
            <pc:sldMk cId="1366675542" sldId="266"/>
            <ac:spMk id="5" creationId="{7D56982E-791C-339B-6FC3-539ED337BAEE}"/>
          </ac:spMkLst>
        </pc:spChg>
        <pc:spChg chg="del">
          <ac:chgData name="kartiksonawane3333@gmail.com" userId="f542782a0cc84209" providerId="LiveId" clId="{A84BC9FB-1D64-44E8-AFA8-22226508B5B9}" dt="2026-09-18T06:44:35.247" v="154" actId="478"/>
          <ac:spMkLst>
            <pc:docMk/>
            <pc:sldMk cId="1366675542" sldId="266"/>
            <ac:spMk id="7" creationId="{EEA2E9E9-5F82-BB87-4A46-5DB0DB8071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5721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864C4-1EDA-E616-93A1-E96F345AC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4B087-F384-C2C5-0348-C14EAC9640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9AA80-42AA-D83B-B3C2-A8708DF319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C53F6-2DFC-2E11-A6F8-48AD000AEB81}"/>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2945655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3E155-2252-4E7A-468D-75BE1FF4B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55E79-DA8A-3C28-BE85-E7CD27CF8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2FEFC-3835-0E43-A2C6-16BFDFCE14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B53E6F-4670-170A-4AD9-F46E5E506C15}"/>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4261878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5773367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8.png"/><Relationship Id="rId1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7.png"/><Relationship Id="rId2" Type="http://schemas.openxmlformats.org/officeDocument/2006/relationships/notesSlide" Target="../notesSlides/notesSlide3.xml"/><Relationship Id="rId16"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2.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6.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1.png"/><Relationship Id="rId4" Type="http://schemas.openxmlformats.org/officeDocument/2006/relationships/image" Target="../media/image21.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grpSp>
        <p:nvGrpSpPr>
          <p:cNvPr id="55" name="Group 54">
            <a:extLst>
              <a:ext uri="{FF2B5EF4-FFF2-40B4-BE49-F238E27FC236}">
                <a16:creationId xmlns:a16="http://schemas.microsoft.com/office/drawing/2014/main" id="{BE63831A-1102-6C97-9914-AECFE3183612}"/>
              </a:ext>
            </a:extLst>
          </p:cNvPr>
          <p:cNvGrpSpPr/>
          <p:nvPr/>
        </p:nvGrpSpPr>
        <p:grpSpPr>
          <a:xfrm>
            <a:off x="502920" y="438912"/>
            <a:ext cx="3291840" cy="475488"/>
            <a:chOff x="502920" y="438912"/>
            <a:chExt cx="3291840" cy="475488"/>
          </a:xfrm>
        </p:grpSpPr>
        <p:sp>
          <p:nvSpPr>
            <p:cNvPr id="3" name="Shape 1"/>
            <p:cNvSpPr/>
            <p:nvPr/>
          </p:nvSpPr>
          <p:spPr>
            <a:xfrm>
              <a:off x="502920" y="457200"/>
              <a:ext cx="457200" cy="457200"/>
            </a:xfrm>
            <a:prstGeom prst="ellipse">
              <a:avLst/>
            </a:prstGeom>
            <a:solidFill>
              <a:srgbClr val="1B4332"/>
            </a:solidFill>
            <a:ln/>
          </p:spPr>
        </p:sp>
        <p:pic>
          <p:nvPicPr>
            <p:cNvPr id="4" name="Image 0" descr="/home/claude/work/build/icons/leaf_white.png"/>
            <p:cNvPicPr>
              <a:picLocks noChangeAspect="1"/>
            </p:cNvPicPr>
            <p:nvPr/>
          </p:nvPicPr>
          <p:blipFill>
            <a:blip r:embed="rId3"/>
            <a:stretch>
              <a:fillRect/>
            </a:stretch>
          </p:blipFill>
          <p:spPr>
            <a:xfrm>
              <a:off x="603504" y="557784"/>
              <a:ext cx="256032" cy="256032"/>
            </a:xfrm>
            <a:prstGeom prst="rect">
              <a:avLst/>
            </a:prstGeom>
          </p:spPr>
        </p:pic>
        <p:sp>
          <p:nvSpPr>
            <p:cNvPr id="5" name="Text 2"/>
            <p:cNvSpPr/>
            <p:nvPr/>
          </p:nvSpPr>
          <p:spPr>
            <a:xfrm>
              <a:off x="1051560" y="438912"/>
              <a:ext cx="2743200" cy="274320"/>
            </a:xfrm>
            <a:prstGeom prst="rect">
              <a:avLst/>
            </a:prstGeom>
            <a:noFill/>
            <a:ln/>
          </p:spPr>
          <p:txBody>
            <a:bodyPr wrap="square" rtlCol="0" anchor="ctr"/>
            <a:lstStyle/>
            <a:p>
              <a:pPr marL="0" indent="0">
                <a:buNone/>
              </a:pPr>
              <a:r>
                <a:rPr lang="en-US" sz="1500" b="1" kern="0" spc="50" dirty="0">
                  <a:solidFill>
                    <a:srgbClr val="1B4332"/>
                  </a:solidFill>
                  <a:latin typeface="Calibri" pitchFamily="34" charset="0"/>
                  <a:ea typeface="Calibri" pitchFamily="34" charset="-122"/>
                  <a:cs typeface="Calibri" pitchFamily="34" charset="-120"/>
                </a:rPr>
                <a:t>TEAM SANJIVANI</a:t>
              </a:r>
              <a:endParaRPr lang="en-US" sz="1500" dirty="0"/>
            </a:p>
          </p:txBody>
        </p:sp>
        <p:sp>
          <p:nvSpPr>
            <p:cNvPr id="6" name="Text 3"/>
            <p:cNvSpPr/>
            <p:nvPr/>
          </p:nvSpPr>
          <p:spPr>
            <a:xfrm>
              <a:off x="1051560" y="713232"/>
              <a:ext cx="2743200" cy="201168"/>
            </a:xfrm>
            <a:prstGeom prst="rect">
              <a:avLst/>
            </a:prstGeom>
            <a:noFill/>
            <a:ln/>
          </p:spPr>
          <p:txBody>
            <a:bodyPr wrap="square" rtlCol="0" anchor="ctr"/>
            <a:lstStyle/>
            <a:p>
              <a:pPr marL="0" indent="0">
                <a:buNone/>
              </a:pPr>
              <a:r>
                <a:rPr lang="en-US" sz="950" i="1" dirty="0">
                  <a:solidFill>
                    <a:srgbClr val="52796F"/>
                  </a:solidFill>
                  <a:latin typeface="Calibri" pitchFamily="34" charset="0"/>
                  <a:ea typeface="Calibri" pitchFamily="34" charset="-122"/>
                  <a:cs typeface="Calibri" pitchFamily="34" charset="-120"/>
                </a:rPr>
                <a:t>Team</a:t>
              </a:r>
              <a:endParaRPr lang="en-US" sz="950" dirty="0"/>
            </a:p>
          </p:txBody>
        </p:sp>
      </p:grpSp>
      <p:sp>
        <p:nvSpPr>
          <p:cNvPr id="8" name="Shape 5"/>
          <p:cNvSpPr/>
          <p:nvPr/>
        </p:nvSpPr>
        <p:spPr>
          <a:xfrm>
            <a:off x="502920" y="1234440"/>
            <a:ext cx="11183112" cy="0"/>
          </a:xfrm>
          <a:prstGeom prst="line">
            <a:avLst/>
          </a:prstGeom>
          <a:noFill/>
          <a:ln w="12700">
            <a:solidFill>
              <a:srgbClr val="D8E3DA"/>
            </a:solidFill>
            <a:prstDash val="solid"/>
          </a:ln>
        </p:spPr>
      </p:sp>
      <p:sp>
        <p:nvSpPr>
          <p:cNvPr id="12" name="Text 9"/>
          <p:cNvSpPr/>
          <p:nvPr/>
        </p:nvSpPr>
        <p:spPr>
          <a:xfrm>
            <a:off x="502920" y="2788920"/>
            <a:ext cx="6675120" cy="502920"/>
          </a:xfrm>
          <a:prstGeom prst="rect">
            <a:avLst/>
          </a:prstGeom>
          <a:noFill/>
          <a:ln/>
        </p:spPr>
        <p:txBody>
          <a:bodyPr wrap="square" rtlCol="0" anchor="ctr"/>
          <a:lstStyle/>
          <a:p>
            <a:pPr marL="0" indent="0">
              <a:buNone/>
            </a:pPr>
            <a:endParaRPr lang="en-US" sz="1650" dirty="0"/>
          </a:p>
        </p:txBody>
      </p:sp>
      <p:grpSp>
        <p:nvGrpSpPr>
          <p:cNvPr id="51" name="Group 50">
            <a:extLst>
              <a:ext uri="{FF2B5EF4-FFF2-40B4-BE49-F238E27FC236}">
                <a16:creationId xmlns:a16="http://schemas.microsoft.com/office/drawing/2014/main" id="{11B352E1-DD7D-3EF5-E444-153DE52B43BD}"/>
              </a:ext>
            </a:extLst>
          </p:cNvPr>
          <p:cNvGrpSpPr/>
          <p:nvPr/>
        </p:nvGrpSpPr>
        <p:grpSpPr>
          <a:xfrm>
            <a:off x="3822197" y="1829664"/>
            <a:ext cx="5001768" cy="64008"/>
            <a:chOff x="502920" y="3332988"/>
            <a:chExt cx="5001768" cy="64008"/>
          </a:xfrm>
        </p:grpSpPr>
        <p:sp>
          <p:nvSpPr>
            <p:cNvPr id="13" name="Shape 10"/>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14" name="Shape 11"/>
            <p:cNvSpPr/>
            <p:nvPr/>
          </p:nvSpPr>
          <p:spPr>
            <a:xfrm>
              <a:off x="2971800" y="3332988"/>
              <a:ext cx="64008" cy="64008"/>
            </a:xfrm>
            <a:prstGeom prst="ellipse">
              <a:avLst/>
            </a:prstGeom>
            <a:solidFill>
              <a:srgbClr val="2F6B3A"/>
            </a:solidFill>
            <a:ln/>
          </p:spPr>
        </p:sp>
        <p:sp>
          <p:nvSpPr>
            <p:cNvPr id="15" name="Shape 12"/>
            <p:cNvSpPr/>
            <p:nvPr/>
          </p:nvSpPr>
          <p:spPr>
            <a:xfrm>
              <a:off x="3127248" y="3364992"/>
              <a:ext cx="2377440" cy="0"/>
            </a:xfrm>
            <a:prstGeom prst="line">
              <a:avLst/>
            </a:prstGeom>
            <a:noFill/>
            <a:ln w="19050">
              <a:solidFill>
                <a:srgbClr val="2F6B3A"/>
              </a:solidFill>
              <a:prstDash val="solid"/>
            </a:ln>
          </p:spPr>
        </p:sp>
      </p:grpSp>
      <p:sp>
        <p:nvSpPr>
          <p:cNvPr id="28" name="Shape 24"/>
          <p:cNvSpPr/>
          <p:nvPr/>
        </p:nvSpPr>
        <p:spPr>
          <a:xfrm>
            <a:off x="-304792" y="6531559"/>
            <a:ext cx="2641534" cy="326441"/>
          </a:xfrm>
          <a:prstGeom prst="triangle">
            <a:avLst/>
          </a:prstGeom>
          <a:solidFill>
            <a:srgbClr val="A9C7AC"/>
          </a:solidFill>
          <a:ln/>
        </p:spPr>
      </p:sp>
      <p:sp>
        <p:nvSpPr>
          <p:cNvPr id="29" name="Shape 25"/>
          <p:cNvSpPr/>
          <p:nvPr/>
        </p:nvSpPr>
        <p:spPr>
          <a:xfrm>
            <a:off x="1727157" y="6476695"/>
            <a:ext cx="2641534" cy="326441"/>
          </a:xfrm>
          <a:prstGeom prst="triangle">
            <a:avLst/>
          </a:prstGeom>
          <a:solidFill>
            <a:srgbClr val="A9C7AC"/>
          </a:solidFill>
          <a:ln/>
        </p:spPr>
      </p:sp>
      <p:sp>
        <p:nvSpPr>
          <p:cNvPr id="30" name="Shape 26"/>
          <p:cNvSpPr/>
          <p:nvPr/>
        </p:nvSpPr>
        <p:spPr>
          <a:xfrm>
            <a:off x="3759106" y="6421831"/>
            <a:ext cx="2641534" cy="326441"/>
          </a:xfrm>
          <a:prstGeom prst="triangle">
            <a:avLst/>
          </a:prstGeom>
          <a:solidFill>
            <a:srgbClr val="A9C7AC"/>
          </a:solidFill>
          <a:ln/>
        </p:spPr>
      </p:sp>
      <p:sp>
        <p:nvSpPr>
          <p:cNvPr id="31" name="Shape 27"/>
          <p:cNvSpPr/>
          <p:nvPr/>
        </p:nvSpPr>
        <p:spPr>
          <a:xfrm>
            <a:off x="5791055" y="6531559"/>
            <a:ext cx="2641534" cy="326441"/>
          </a:xfrm>
          <a:prstGeom prst="triangle">
            <a:avLst/>
          </a:prstGeom>
          <a:solidFill>
            <a:srgbClr val="A9C7AC"/>
          </a:solidFill>
          <a:ln/>
        </p:spPr>
      </p:sp>
      <p:sp>
        <p:nvSpPr>
          <p:cNvPr id="32" name="Shape 28"/>
          <p:cNvSpPr/>
          <p:nvPr/>
        </p:nvSpPr>
        <p:spPr>
          <a:xfrm>
            <a:off x="7823004" y="6476695"/>
            <a:ext cx="2641534" cy="326441"/>
          </a:xfrm>
          <a:prstGeom prst="triangle">
            <a:avLst/>
          </a:prstGeom>
          <a:solidFill>
            <a:srgbClr val="A9C7AC"/>
          </a:solidFill>
          <a:ln/>
        </p:spPr>
      </p:sp>
      <p:sp>
        <p:nvSpPr>
          <p:cNvPr id="33" name="Shape 29"/>
          <p:cNvSpPr/>
          <p:nvPr/>
        </p:nvSpPr>
        <p:spPr>
          <a:xfrm>
            <a:off x="9854954" y="6421831"/>
            <a:ext cx="2641534" cy="326441"/>
          </a:xfrm>
          <a:prstGeom prst="triangle">
            <a:avLst/>
          </a:prstGeom>
          <a:solidFill>
            <a:srgbClr val="A9C7AC"/>
          </a:solidFill>
          <a:ln/>
        </p:spPr>
      </p:sp>
      <p:sp>
        <p:nvSpPr>
          <p:cNvPr id="34" name="Shape 30"/>
          <p:cNvSpPr/>
          <p:nvPr/>
        </p:nvSpPr>
        <p:spPr>
          <a:xfrm>
            <a:off x="-261251" y="6608369"/>
            <a:ext cx="2264172" cy="249631"/>
          </a:xfrm>
          <a:prstGeom prst="triangle">
            <a:avLst/>
          </a:prstGeom>
          <a:solidFill>
            <a:srgbClr val="5E8E63"/>
          </a:solidFill>
          <a:ln/>
        </p:spPr>
      </p:sp>
      <p:sp>
        <p:nvSpPr>
          <p:cNvPr id="35" name="Shape 31"/>
          <p:cNvSpPr/>
          <p:nvPr/>
        </p:nvSpPr>
        <p:spPr>
          <a:xfrm>
            <a:off x="1480420" y="6553505"/>
            <a:ext cx="2264172" cy="249631"/>
          </a:xfrm>
          <a:prstGeom prst="triangle">
            <a:avLst/>
          </a:prstGeom>
          <a:solidFill>
            <a:srgbClr val="5E8E63"/>
          </a:solidFill>
          <a:ln/>
        </p:spPr>
      </p:sp>
      <p:sp>
        <p:nvSpPr>
          <p:cNvPr id="36" name="Shape 32"/>
          <p:cNvSpPr/>
          <p:nvPr/>
        </p:nvSpPr>
        <p:spPr>
          <a:xfrm>
            <a:off x="3222091" y="6498641"/>
            <a:ext cx="2264172" cy="249631"/>
          </a:xfrm>
          <a:prstGeom prst="triangle">
            <a:avLst/>
          </a:prstGeom>
          <a:solidFill>
            <a:srgbClr val="5E8E63"/>
          </a:solidFill>
          <a:ln/>
        </p:spPr>
      </p:sp>
      <p:sp>
        <p:nvSpPr>
          <p:cNvPr id="37" name="Shape 33"/>
          <p:cNvSpPr/>
          <p:nvPr/>
        </p:nvSpPr>
        <p:spPr>
          <a:xfrm>
            <a:off x="4963762" y="6608369"/>
            <a:ext cx="2264172" cy="249631"/>
          </a:xfrm>
          <a:prstGeom prst="triangle">
            <a:avLst/>
          </a:prstGeom>
          <a:solidFill>
            <a:srgbClr val="5E8E63"/>
          </a:solidFill>
          <a:ln/>
        </p:spPr>
      </p:sp>
      <p:sp>
        <p:nvSpPr>
          <p:cNvPr id="38" name="Shape 34"/>
          <p:cNvSpPr/>
          <p:nvPr/>
        </p:nvSpPr>
        <p:spPr>
          <a:xfrm>
            <a:off x="6705432" y="6553505"/>
            <a:ext cx="2264172" cy="249631"/>
          </a:xfrm>
          <a:prstGeom prst="triangle">
            <a:avLst/>
          </a:prstGeom>
          <a:solidFill>
            <a:srgbClr val="5E8E63"/>
          </a:solidFill>
          <a:ln/>
        </p:spPr>
      </p:sp>
      <p:sp>
        <p:nvSpPr>
          <p:cNvPr id="39" name="Shape 35"/>
          <p:cNvSpPr/>
          <p:nvPr/>
        </p:nvSpPr>
        <p:spPr>
          <a:xfrm>
            <a:off x="8447103" y="6498641"/>
            <a:ext cx="2264172" cy="249631"/>
          </a:xfrm>
          <a:prstGeom prst="triangle">
            <a:avLst/>
          </a:prstGeom>
          <a:solidFill>
            <a:srgbClr val="5E8E63"/>
          </a:solidFill>
          <a:ln/>
        </p:spPr>
      </p:sp>
      <p:sp>
        <p:nvSpPr>
          <p:cNvPr id="40" name="Shape 36"/>
          <p:cNvSpPr/>
          <p:nvPr/>
        </p:nvSpPr>
        <p:spPr>
          <a:xfrm>
            <a:off x="10188774" y="6608369"/>
            <a:ext cx="2264172" cy="249631"/>
          </a:xfrm>
          <a:prstGeom prst="triangle">
            <a:avLst/>
          </a:prstGeom>
          <a:solidFill>
            <a:srgbClr val="5E8E63"/>
          </a:solidFill>
          <a:ln/>
        </p:spPr>
      </p:sp>
      <p:sp>
        <p:nvSpPr>
          <p:cNvPr id="41" name="Shape 37"/>
          <p:cNvSpPr/>
          <p:nvPr/>
        </p:nvSpPr>
        <p:spPr>
          <a:xfrm>
            <a:off x="-228594" y="6685178"/>
            <a:ext cx="1981150" cy="172822"/>
          </a:xfrm>
          <a:prstGeom prst="triangle">
            <a:avLst/>
          </a:prstGeom>
          <a:solidFill>
            <a:srgbClr val="1B4332"/>
          </a:solidFill>
          <a:ln/>
        </p:spPr>
      </p:sp>
      <p:sp>
        <p:nvSpPr>
          <p:cNvPr id="42" name="Shape 38"/>
          <p:cNvSpPr/>
          <p:nvPr/>
        </p:nvSpPr>
        <p:spPr>
          <a:xfrm>
            <a:off x="1295368" y="6630314"/>
            <a:ext cx="1981150" cy="172822"/>
          </a:xfrm>
          <a:prstGeom prst="triangle">
            <a:avLst/>
          </a:prstGeom>
          <a:solidFill>
            <a:srgbClr val="1B4332"/>
          </a:solidFill>
          <a:ln/>
        </p:spPr>
      </p:sp>
      <p:sp>
        <p:nvSpPr>
          <p:cNvPr id="43" name="Shape 39"/>
          <p:cNvSpPr/>
          <p:nvPr/>
        </p:nvSpPr>
        <p:spPr>
          <a:xfrm>
            <a:off x="2819330" y="6575450"/>
            <a:ext cx="1981150" cy="172822"/>
          </a:xfrm>
          <a:prstGeom prst="triangle">
            <a:avLst/>
          </a:prstGeom>
          <a:solidFill>
            <a:srgbClr val="1B4332"/>
          </a:solidFill>
          <a:ln/>
        </p:spPr>
      </p:sp>
      <p:sp>
        <p:nvSpPr>
          <p:cNvPr id="44" name="Shape 40"/>
          <p:cNvSpPr/>
          <p:nvPr/>
        </p:nvSpPr>
        <p:spPr>
          <a:xfrm>
            <a:off x="4343291" y="6685178"/>
            <a:ext cx="1981150" cy="172822"/>
          </a:xfrm>
          <a:prstGeom prst="triangle">
            <a:avLst/>
          </a:prstGeom>
          <a:solidFill>
            <a:srgbClr val="1B4332"/>
          </a:solidFill>
          <a:ln/>
        </p:spPr>
      </p:sp>
      <p:sp>
        <p:nvSpPr>
          <p:cNvPr id="45" name="Shape 41"/>
          <p:cNvSpPr/>
          <p:nvPr/>
        </p:nvSpPr>
        <p:spPr>
          <a:xfrm>
            <a:off x="5867253" y="6630314"/>
            <a:ext cx="1981150" cy="172822"/>
          </a:xfrm>
          <a:prstGeom prst="triangle">
            <a:avLst/>
          </a:prstGeom>
          <a:solidFill>
            <a:srgbClr val="1B4332"/>
          </a:solidFill>
          <a:ln/>
        </p:spPr>
      </p:sp>
      <p:sp>
        <p:nvSpPr>
          <p:cNvPr id="46" name="Shape 42"/>
          <p:cNvSpPr/>
          <p:nvPr/>
        </p:nvSpPr>
        <p:spPr>
          <a:xfrm>
            <a:off x="7391215" y="6575450"/>
            <a:ext cx="1981150" cy="172822"/>
          </a:xfrm>
          <a:prstGeom prst="triangle">
            <a:avLst/>
          </a:prstGeom>
          <a:solidFill>
            <a:srgbClr val="1B4332"/>
          </a:solidFill>
          <a:ln/>
        </p:spPr>
      </p:sp>
      <p:sp>
        <p:nvSpPr>
          <p:cNvPr id="47" name="Shape 43"/>
          <p:cNvSpPr/>
          <p:nvPr/>
        </p:nvSpPr>
        <p:spPr>
          <a:xfrm>
            <a:off x="8915177" y="6685178"/>
            <a:ext cx="1981150" cy="172822"/>
          </a:xfrm>
          <a:prstGeom prst="triangle">
            <a:avLst/>
          </a:prstGeom>
          <a:solidFill>
            <a:srgbClr val="1B4332"/>
          </a:solidFill>
          <a:ln/>
        </p:spPr>
      </p:sp>
      <p:sp>
        <p:nvSpPr>
          <p:cNvPr id="48" name="Shape 44"/>
          <p:cNvSpPr/>
          <p:nvPr/>
        </p:nvSpPr>
        <p:spPr>
          <a:xfrm>
            <a:off x="10439139" y="6630314"/>
            <a:ext cx="1981150" cy="172822"/>
          </a:xfrm>
          <a:prstGeom prst="triangle">
            <a:avLst/>
          </a:prstGeom>
          <a:solidFill>
            <a:srgbClr val="1B4332"/>
          </a:solidFill>
          <a:ln/>
        </p:spPr>
      </p:sp>
      <p:sp>
        <p:nvSpPr>
          <p:cNvPr id="50" name="TextBox 49">
            <a:extLst>
              <a:ext uri="{FF2B5EF4-FFF2-40B4-BE49-F238E27FC236}">
                <a16:creationId xmlns:a16="http://schemas.microsoft.com/office/drawing/2014/main" id="{FA97029A-3C1E-44ED-1D6B-05185C1D512B}"/>
              </a:ext>
            </a:extLst>
          </p:cNvPr>
          <p:cNvSpPr txBox="1"/>
          <p:nvPr/>
        </p:nvSpPr>
        <p:spPr>
          <a:xfrm>
            <a:off x="3457332" y="871871"/>
            <a:ext cx="5734217" cy="923330"/>
          </a:xfrm>
          <a:prstGeom prst="rect">
            <a:avLst/>
          </a:prstGeom>
          <a:noFill/>
        </p:spPr>
        <p:txBody>
          <a:bodyPr wrap="square" rtlCol="0">
            <a:spAutoFit/>
          </a:bodyPr>
          <a:lstStyle/>
          <a:p>
            <a:pPr algn="ctr"/>
            <a:r>
              <a:rPr lang="en-IN" b="1" dirty="0"/>
              <a:t>Theme: AI for Climate Change</a:t>
            </a:r>
          </a:p>
          <a:p>
            <a:pPr algn="ctr"/>
            <a:endParaRPr lang="en-IN" b="1" dirty="0"/>
          </a:p>
          <a:p>
            <a:pPr algn="ctr"/>
            <a:r>
              <a:rPr lang="en-US" b="1" dirty="0"/>
              <a:t>Historical-Data-Based Landslide Risk Prediction Platform</a:t>
            </a:r>
            <a:endParaRPr lang="en-IN" b="1" dirty="0"/>
          </a:p>
        </p:txBody>
      </p:sp>
      <p:sp>
        <p:nvSpPr>
          <p:cNvPr id="52" name="TextBox 51">
            <a:extLst>
              <a:ext uri="{FF2B5EF4-FFF2-40B4-BE49-F238E27FC236}">
                <a16:creationId xmlns:a16="http://schemas.microsoft.com/office/drawing/2014/main" id="{C1ACA1CB-60F9-07C0-FD02-434913792CCC}"/>
              </a:ext>
            </a:extLst>
          </p:cNvPr>
          <p:cNvSpPr txBox="1"/>
          <p:nvPr/>
        </p:nvSpPr>
        <p:spPr>
          <a:xfrm>
            <a:off x="255050" y="2357821"/>
            <a:ext cx="6972884" cy="3373359"/>
          </a:xfrm>
          <a:prstGeom prst="rect">
            <a:avLst/>
          </a:prstGeom>
          <a:noFill/>
        </p:spPr>
        <p:txBody>
          <a:bodyPr wrap="square" rtlCol="0">
            <a:spAutoFit/>
          </a:bodyPr>
          <a:lstStyle/>
          <a:p>
            <a:pPr>
              <a:lnSpc>
                <a:spcPct val="150000"/>
              </a:lnSpc>
            </a:pPr>
            <a:r>
              <a:rPr lang="en-US" b="1" dirty="0"/>
              <a:t>Team Name : </a:t>
            </a:r>
            <a:r>
              <a:rPr lang="en-US" dirty="0"/>
              <a:t>Terraguard</a:t>
            </a:r>
          </a:p>
          <a:p>
            <a:pPr>
              <a:lnSpc>
                <a:spcPct val="150000"/>
              </a:lnSpc>
            </a:pPr>
            <a:r>
              <a:rPr lang="en-US" b="1" dirty="0"/>
              <a:t>Team Members (UG) : </a:t>
            </a:r>
          </a:p>
          <a:p>
            <a:pPr marL="285750" indent="-285750">
              <a:lnSpc>
                <a:spcPct val="150000"/>
              </a:lnSpc>
              <a:buFont typeface="Wingdings" panose="05000000000000000000" pitchFamily="2" charset="2"/>
              <a:buChar char="ü"/>
            </a:pPr>
            <a:r>
              <a:rPr lang="en-US" dirty="0"/>
              <a:t>Kartik Sonawane (Team Leader)</a:t>
            </a:r>
          </a:p>
          <a:p>
            <a:pPr marL="285750" indent="-285750">
              <a:lnSpc>
                <a:spcPct val="150000"/>
              </a:lnSpc>
              <a:buFont typeface="Wingdings" panose="05000000000000000000" pitchFamily="2" charset="2"/>
              <a:buChar char="ü"/>
            </a:pPr>
            <a:r>
              <a:rPr lang="en-US" dirty="0"/>
              <a:t>Nandhana Vadakkan</a:t>
            </a:r>
          </a:p>
          <a:p>
            <a:pPr marL="285750" indent="-285750">
              <a:lnSpc>
                <a:spcPct val="150000"/>
              </a:lnSpc>
              <a:buFont typeface="Wingdings" panose="05000000000000000000" pitchFamily="2" charset="2"/>
              <a:buChar char="ü"/>
            </a:pPr>
            <a:r>
              <a:rPr lang="en-US" dirty="0"/>
              <a:t>Vaishnavi Pimparkar</a:t>
            </a:r>
          </a:p>
          <a:p>
            <a:pPr marL="285750" indent="-285750">
              <a:lnSpc>
                <a:spcPct val="150000"/>
              </a:lnSpc>
              <a:buFont typeface="Wingdings" panose="05000000000000000000" pitchFamily="2" charset="2"/>
              <a:buChar char="ü"/>
            </a:pPr>
            <a:r>
              <a:rPr lang="en-US" dirty="0"/>
              <a:t>Nishita Devi</a:t>
            </a:r>
          </a:p>
          <a:p>
            <a:pPr>
              <a:lnSpc>
                <a:spcPct val="150000"/>
              </a:lnSpc>
            </a:pPr>
            <a:r>
              <a:rPr lang="en-US" b="1" dirty="0"/>
              <a:t>Institute Name : </a:t>
            </a:r>
            <a:r>
              <a:rPr lang="en-US" dirty="0"/>
              <a:t>Sanjivani College of Engineering, Kopargaon</a:t>
            </a:r>
          </a:p>
          <a:p>
            <a:pPr>
              <a:lnSpc>
                <a:spcPct val="150000"/>
              </a:lnSpc>
            </a:pPr>
            <a:endParaRPr lang="en-IN" dirty="0"/>
          </a:p>
        </p:txBody>
      </p:sp>
      <p:pic>
        <p:nvPicPr>
          <p:cNvPr id="54" name="Picture 53">
            <a:extLst>
              <a:ext uri="{FF2B5EF4-FFF2-40B4-BE49-F238E27FC236}">
                <a16:creationId xmlns:a16="http://schemas.microsoft.com/office/drawing/2014/main" id="{DACA57AB-5B90-2C61-363A-827EB8B8E233}"/>
              </a:ext>
            </a:extLst>
          </p:cNvPr>
          <p:cNvPicPr>
            <a:picLocks noChangeAspect="1"/>
          </p:cNvPicPr>
          <p:nvPr/>
        </p:nvPicPr>
        <p:blipFill>
          <a:blip r:embed="rId4"/>
          <a:stretch>
            <a:fillRect/>
          </a:stretch>
        </p:blipFill>
        <p:spPr>
          <a:xfrm>
            <a:off x="6883229" y="2361468"/>
            <a:ext cx="5302898" cy="39408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c 2"/>
          <p:cNvSpPr/>
          <p:nvPr/>
        </p:nvSpPr>
        <p:spPr>
          <a:xfrm>
            <a:off x="-182880" y="9144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Arc 3"/>
          <p:cNvSpPr/>
          <p:nvPr/>
        </p:nvSpPr>
        <p:spPr>
          <a:xfrm>
            <a:off x="-109728" y="13716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Arc 4"/>
          <p:cNvSpPr/>
          <p:nvPr/>
        </p:nvSpPr>
        <p:spPr>
          <a:xfrm>
            <a:off x="-36576" y="18288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Arc 5"/>
          <p:cNvSpPr/>
          <p:nvPr/>
        </p:nvSpPr>
        <p:spPr>
          <a:xfrm>
            <a:off x="36575" y="22860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Arc 6"/>
          <p:cNvSpPr/>
          <p:nvPr/>
        </p:nvSpPr>
        <p:spPr>
          <a:xfrm>
            <a:off x="109728" y="27432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33" name="Group 32">
            <a:extLst>
              <a:ext uri="{FF2B5EF4-FFF2-40B4-BE49-F238E27FC236}">
                <a16:creationId xmlns:a16="http://schemas.microsoft.com/office/drawing/2014/main" id="{73FEC026-0F4E-5284-8BAB-7FCF1446458C}"/>
              </a:ext>
            </a:extLst>
          </p:cNvPr>
          <p:cNvGrpSpPr/>
          <p:nvPr/>
        </p:nvGrpSpPr>
        <p:grpSpPr>
          <a:xfrm>
            <a:off x="368047" y="1795633"/>
            <a:ext cx="5725668" cy="4729773"/>
            <a:chOff x="5715000" y="1143000"/>
            <a:chExt cx="5897880" cy="5257800"/>
          </a:xfrm>
        </p:grpSpPr>
        <p:sp>
          <p:nvSpPr>
            <p:cNvPr id="12" name="Oval 11"/>
            <p:cNvSpPr/>
            <p:nvPr/>
          </p:nvSpPr>
          <p:spPr>
            <a:xfrm>
              <a:off x="5715000" y="1143000"/>
              <a:ext cx="594360" cy="594360"/>
            </a:xfrm>
            <a:prstGeom prst="ellipse">
              <a:avLst/>
            </a:prstGeom>
            <a:solidFill>
              <a:srgbClr val="126C4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dirty="0"/>
                <a:t>01</a:t>
              </a:r>
            </a:p>
          </p:txBody>
        </p:sp>
        <p:sp>
          <p:nvSpPr>
            <p:cNvPr id="13" name="Rounded Rectangle 12"/>
            <p:cNvSpPr/>
            <p:nvPr/>
          </p:nvSpPr>
          <p:spPr>
            <a:xfrm>
              <a:off x="6903720" y="1170432"/>
              <a:ext cx="3840480" cy="530352"/>
            </a:xfrm>
            <a:prstGeom prst="roundRect">
              <a:avLst/>
            </a:prstGeom>
            <a:solidFill>
              <a:srgbClr val="E2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defRPr sz="2000" b="1">
                  <a:solidFill>
                    <a:srgbClr val="183743"/>
                  </a:solidFill>
                  <a:latin typeface="Aptos"/>
                </a:defRPr>
              </a:pPr>
              <a:r>
                <a:rPr dirty="0"/>
                <a:t>Problem</a:t>
              </a:r>
            </a:p>
          </p:txBody>
        </p:sp>
        <p:sp>
          <p:nvSpPr>
            <p:cNvPr id="14" name="TextBox 13"/>
            <p:cNvSpPr txBox="1"/>
            <p:nvPr/>
          </p:nvSpPr>
          <p:spPr>
            <a:xfrm>
              <a:off x="6931152" y="1709928"/>
              <a:ext cx="3931920" cy="219456"/>
            </a:xfrm>
            <a:prstGeom prst="rect">
              <a:avLst/>
            </a:prstGeom>
            <a:noFill/>
          </p:spPr>
          <p:txBody>
            <a:bodyPr wrap="none">
              <a:spAutoFit/>
            </a:bodyPr>
            <a:lstStyle/>
            <a:p>
              <a:pPr>
                <a:defRPr sz="950">
                  <a:solidFill>
                    <a:srgbClr val="5C6F77"/>
                  </a:solidFill>
                  <a:latin typeface="Aptos"/>
                </a:defRPr>
              </a:pPr>
              <a:r>
                <a:rPr dirty="0"/>
                <a:t>Problem Statement / Idea</a:t>
              </a:r>
            </a:p>
          </p:txBody>
        </p:sp>
        <p:sp>
          <p:nvSpPr>
            <p:cNvPr id="15" name="Oval 14"/>
            <p:cNvSpPr/>
            <p:nvPr/>
          </p:nvSpPr>
          <p:spPr>
            <a:xfrm>
              <a:off x="5715000" y="1984248"/>
              <a:ext cx="594360" cy="594360"/>
            </a:xfrm>
            <a:prstGeom prst="ellipse">
              <a:avLst/>
            </a:prstGeom>
            <a:solidFill>
              <a:srgbClr val="269D9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dirty="0"/>
                <a:t>02</a:t>
              </a:r>
            </a:p>
          </p:txBody>
        </p:sp>
        <p:sp>
          <p:nvSpPr>
            <p:cNvPr id="16" name="Rounded Rectangle 15"/>
            <p:cNvSpPr/>
            <p:nvPr/>
          </p:nvSpPr>
          <p:spPr>
            <a:xfrm>
              <a:off x="6903720" y="2011679"/>
              <a:ext cx="3840480" cy="530352"/>
            </a:xfrm>
            <a:prstGeom prst="roundRect">
              <a:avLst/>
            </a:prstGeom>
            <a:solidFill>
              <a:srgbClr val="E2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defRPr sz="2000" b="1">
                  <a:solidFill>
                    <a:srgbClr val="183743"/>
                  </a:solidFill>
                  <a:latin typeface="Aptos"/>
                </a:defRPr>
              </a:pPr>
              <a:r>
                <a:rPr dirty="0"/>
                <a:t>Objectives</a:t>
              </a:r>
            </a:p>
          </p:txBody>
        </p:sp>
        <p:sp>
          <p:nvSpPr>
            <p:cNvPr id="17" name="TextBox 16"/>
            <p:cNvSpPr txBox="1"/>
            <p:nvPr/>
          </p:nvSpPr>
          <p:spPr>
            <a:xfrm>
              <a:off x="6931152" y="2551176"/>
              <a:ext cx="3931920" cy="219456"/>
            </a:xfrm>
            <a:prstGeom prst="rect">
              <a:avLst/>
            </a:prstGeom>
            <a:noFill/>
          </p:spPr>
          <p:txBody>
            <a:bodyPr wrap="none">
              <a:spAutoFit/>
            </a:bodyPr>
            <a:lstStyle/>
            <a:p>
              <a:pPr>
                <a:defRPr sz="950">
                  <a:solidFill>
                    <a:srgbClr val="5C6F77"/>
                  </a:solidFill>
                  <a:latin typeface="Aptos"/>
                </a:defRPr>
              </a:pPr>
              <a:r>
                <a:rPr dirty="0"/>
                <a:t>Goals and Targets</a:t>
              </a:r>
            </a:p>
          </p:txBody>
        </p:sp>
        <p:sp>
          <p:nvSpPr>
            <p:cNvPr id="18" name="Oval 17"/>
            <p:cNvSpPr/>
            <p:nvPr/>
          </p:nvSpPr>
          <p:spPr>
            <a:xfrm>
              <a:off x="5715000" y="2825496"/>
              <a:ext cx="594360" cy="594360"/>
            </a:xfrm>
            <a:prstGeom prst="ellipse">
              <a:avLst/>
            </a:prstGeom>
            <a:solidFill>
              <a:srgbClr val="3D89C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dirty="0"/>
                <a:t>03</a:t>
              </a:r>
            </a:p>
          </p:txBody>
        </p:sp>
        <p:sp>
          <p:nvSpPr>
            <p:cNvPr id="19" name="Rounded Rectangle 18"/>
            <p:cNvSpPr/>
            <p:nvPr/>
          </p:nvSpPr>
          <p:spPr>
            <a:xfrm>
              <a:off x="6903720" y="2852928"/>
              <a:ext cx="3840480" cy="530352"/>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defRPr sz="2000" b="1">
                  <a:solidFill>
                    <a:srgbClr val="183743"/>
                  </a:solidFill>
                  <a:latin typeface="Aptos"/>
                </a:defRPr>
              </a:pPr>
              <a:r>
                <a:rPr lang="en-US" dirty="0"/>
                <a:t>Solution</a:t>
              </a:r>
              <a:endParaRPr dirty="0"/>
            </a:p>
          </p:txBody>
        </p:sp>
        <p:sp>
          <p:nvSpPr>
            <p:cNvPr id="20" name="TextBox 19"/>
            <p:cNvSpPr txBox="1"/>
            <p:nvPr/>
          </p:nvSpPr>
          <p:spPr>
            <a:xfrm>
              <a:off x="6931152" y="3392424"/>
              <a:ext cx="3931920" cy="219456"/>
            </a:xfrm>
            <a:prstGeom prst="rect">
              <a:avLst/>
            </a:prstGeom>
            <a:noFill/>
          </p:spPr>
          <p:txBody>
            <a:bodyPr wrap="none">
              <a:spAutoFit/>
            </a:bodyPr>
            <a:lstStyle/>
            <a:p>
              <a:pPr>
                <a:defRPr sz="950">
                  <a:solidFill>
                    <a:srgbClr val="5C6F77"/>
                  </a:solidFill>
                  <a:latin typeface="Aptos"/>
                </a:defRPr>
              </a:pPr>
              <a:r>
                <a:rPr dirty="0"/>
                <a:t>Proposed Solution / Architecture</a:t>
              </a:r>
            </a:p>
          </p:txBody>
        </p:sp>
        <p:sp>
          <p:nvSpPr>
            <p:cNvPr id="21" name="Oval 20"/>
            <p:cNvSpPr/>
            <p:nvPr/>
          </p:nvSpPr>
          <p:spPr>
            <a:xfrm>
              <a:off x="5715000" y="3666744"/>
              <a:ext cx="594360" cy="594360"/>
            </a:xfrm>
            <a:prstGeom prst="ellipse">
              <a:avLst/>
            </a:prstGeom>
            <a:solidFill>
              <a:srgbClr val="126C4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dirty="0"/>
                <a:t>04</a:t>
              </a:r>
            </a:p>
          </p:txBody>
        </p:sp>
        <p:sp>
          <p:nvSpPr>
            <p:cNvPr id="22" name="Rounded Rectangle 21"/>
            <p:cNvSpPr/>
            <p:nvPr/>
          </p:nvSpPr>
          <p:spPr>
            <a:xfrm>
              <a:off x="6903720" y="3694176"/>
              <a:ext cx="3840480" cy="530352"/>
            </a:xfrm>
            <a:prstGeom prst="roundRect">
              <a:avLst/>
            </a:prstGeom>
            <a:solidFill>
              <a:srgbClr val="E2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defRPr sz="2000" b="1">
                  <a:solidFill>
                    <a:srgbClr val="183743"/>
                  </a:solidFill>
                  <a:latin typeface="Aptos"/>
                </a:defRPr>
              </a:pPr>
              <a:r>
                <a:rPr dirty="0"/>
                <a:t>Innovation</a:t>
              </a:r>
            </a:p>
          </p:txBody>
        </p:sp>
        <p:sp>
          <p:nvSpPr>
            <p:cNvPr id="23" name="TextBox 22"/>
            <p:cNvSpPr txBox="1"/>
            <p:nvPr/>
          </p:nvSpPr>
          <p:spPr>
            <a:xfrm>
              <a:off x="6931152" y="4233672"/>
              <a:ext cx="3931920" cy="219456"/>
            </a:xfrm>
            <a:prstGeom prst="rect">
              <a:avLst/>
            </a:prstGeom>
            <a:noFill/>
          </p:spPr>
          <p:txBody>
            <a:bodyPr wrap="none">
              <a:spAutoFit/>
            </a:bodyPr>
            <a:lstStyle/>
            <a:p>
              <a:pPr>
                <a:defRPr sz="950">
                  <a:solidFill>
                    <a:srgbClr val="5C6F77"/>
                  </a:solidFill>
                  <a:latin typeface="Aptos"/>
                </a:defRPr>
              </a:pPr>
              <a:r>
                <a:rPr dirty="0"/>
                <a:t>Unique Features / Innovation</a:t>
              </a:r>
            </a:p>
          </p:txBody>
        </p:sp>
        <p:sp>
          <p:nvSpPr>
            <p:cNvPr id="24" name="Oval 23"/>
            <p:cNvSpPr/>
            <p:nvPr/>
          </p:nvSpPr>
          <p:spPr>
            <a:xfrm>
              <a:off x="5715000" y="4507992"/>
              <a:ext cx="594360" cy="594360"/>
            </a:xfrm>
            <a:prstGeom prst="ellipse">
              <a:avLst/>
            </a:prstGeom>
            <a:solidFill>
              <a:srgbClr val="3D89C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dirty="0"/>
                <a:t>05</a:t>
              </a:r>
            </a:p>
          </p:txBody>
        </p:sp>
        <p:sp>
          <p:nvSpPr>
            <p:cNvPr id="25" name="Rounded Rectangle 24"/>
            <p:cNvSpPr/>
            <p:nvPr/>
          </p:nvSpPr>
          <p:spPr>
            <a:xfrm>
              <a:off x="6903720" y="4535424"/>
              <a:ext cx="3840480" cy="530352"/>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defRPr sz="2000" b="1">
                  <a:solidFill>
                    <a:srgbClr val="183743"/>
                  </a:solidFill>
                  <a:latin typeface="Aptos"/>
                </a:defRPr>
              </a:pPr>
              <a:r>
                <a:rPr dirty="0"/>
                <a:t>Outcomes</a:t>
              </a:r>
            </a:p>
          </p:txBody>
        </p:sp>
        <p:sp>
          <p:nvSpPr>
            <p:cNvPr id="26" name="TextBox 25"/>
            <p:cNvSpPr txBox="1"/>
            <p:nvPr/>
          </p:nvSpPr>
          <p:spPr>
            <a:xfrm>
              <a:off x="6931152" y="5074920"/>
              <a:ext cx="3931920" cy="219456"/>
            </a:xfrm>
            <a:prstGeom prst="rect">
              <a:avLst/>
            </a:prstGeom>
            <a:noFill/>
          </p:spPr>
          <p:txBody>
            <a:bodyPr wrap="none">
              <a:spAutoFit/>
            </a:bodyPr>
            <a:lstStyle/>
            <a:p>
              <a:pPr>
                <a:defRPr sz="950">
                  <a:solidFill>
                    <a:srgbClr val="5C6F77"/>
                  </a:solidFill>
                  <a:latin typeface="Aptos"/>
                </a:defRPr>
              </a:pPr>
              <a:r>
                <a:rPr dirty="0"/>
                <a:t>Expected Outcomes</a:t>
              </a:r>
            </a:p>
          </p:txBody>
        </p:sp>
        <p:sp>
          <p:nvSpPr>
            <p:cNvPr id="27" name="Oval 26"/>
            <p:cNvSpPr/>
            <p:nvPr/>
          </p:nvSpPr>
          <p:spPr>
            <a:xfrm>
              <a:off x="5715000" y="5349240"/>
              <a:ext cx="594360" cy="594360"/>
            </a:xfrm>
            <a:prstGeom prst="ellipse">
              <a:avLst/>
            </a:prstGeom>
            <a:solidFill>
              <a:srgbClr val="126C4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dirty="0"/>
                <a:t>06</a:t>
              </a:r>
            </a:p>
          </p:txBody>
        </p:sp>
        <p:sp>
          <p:nvSpPr>
            <p:cNvPr id="28" name="Rounded Rectangle 27"/>
            <p:cNvSpPr/>
            <p:nvPr/>
          </p:nvSpPr>
          <p:spPr>
            <a:xfrm>
              <a:off x="6903720" y="5376672"/>
              <a:ext cx="3840480" cy="530352"/>
            </a:xfrm>
            <a:prstGeom prst="roundRect">
              <a:avLst/>
            </a:prstGeom>
            <a:solidFill>
              <a:srgbClr val="E2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defRPr sz="2000" b="1">
                  <a:solidFill>
                    <a:srgbClr val="183743"/>
                  </a:solidFill>
                  <a:latin typeface="Aptos"/>
                </a:defRPr>
              </a:pPr>
              <a:r>
                <a:rPr dirty="0"/>
                <a:t>Conclusion</a:t>
              </a:r>
              <a:r>
                <a:rPr lang="en-US" dirty="0"/>
                <a:t> / Reference</a:t>
              </a:r>
              <a:endParaRPr dirty="0"/>
            </a:p>
          </p:txBody>
        </p:sp>
        <p:sp>
          <p:nvSpPr>
            <p:cNvPr id="29" name="TextBox 28"/>
            <p:cNvSpPr txBox="1"/>
            <p:nvPr/>
          </p:nvSpPr>
          <p:spPr>
            <a:xfrm>
              <a:off x="6931152" y="5916168"/>
              <a:ext cx="3931920" cy="219456"/>
            </a:xfrm>
            <a:prstGeom prst="rect">
              <a:avLst/>
            </a:prstGeom>
            <a:noFill/>
          </p:spPr>
          <p:txBody>
            <a:bodyPr wrap="none">
              <a:spAutoFit/>
            </a:bodyPr>
            <a:lstStyle/>
            <a:p>
              <a:pPr>
                <a:defRPr sz="950">
                  <a:solidFill>
                    <a:srgbClr val="5C6F77"/>
                  </a:solidFill>
                  <a:latin typeface="Aptos"/>
                </a:defRPr>
              </a:pPr>
              <a:r>
                <a:rPr dirty="0"/>
                <a:t>Key Takeaways</a:t>
              </a:r>
            </a:p>
          </p:txBody>
        </p:sp>
        <p:sp>
          <p:nvSpPr>
            <p:cNvPr id="31" name="Rounded Rectangle 30"/>
            <p:cNvSpPr/>
            <p:nvPr/>
          </p:nvSpPr>
          <p:spPr>
            <a:xfrm>
              <a:off x="8823960" y="5897880"/>
              <a:ext cx="2788920" cy="502920"/>
            </a:xfrm>
            <a:prstGeom prst="roundRect">
              <a:avLst/>
            </a:prstGeom>
            <a:solidFill>
              <a:srgbClr val="12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rPr dirty="0"/>
                <a:t>AI • Risk Forecasting • Early Warning</a:t>
              </a:r>
            </a:p>
          </p:txBody>
        </p:sp>
      </p:grpSp>
      <p:grpSp>
        <p:nvGrpSpPr>
          <p:cNvPr id="34" name="Group 33">
            <a:extLst>
              <a:ext uri="{FF2B5EF4-FFF2-40B4-BE49-F238E27FC236}">
                <a16:creationId xmlns:a16="http://schemas.microsoft.com/office/drawing/2014/main" id="{31BC408D-0929-F42C-54E2-5BAABD04AA52}"/>
              </a:ext>
            </a:extLst>
          </p:cNvPr>
          <p:cNvGrpSpPr/>
          <p:nvPr/>
        </p:nvGrpSpPr>
        <p:grpSpPr>
          <a:xfrm>
            <a:off x="502920" y="438912"/>
            <a:ext cx="3291840" cy="475488"/>
            <a:chOff x="502920" y="438912"/>
            <a:chExt cx="3291840" cy="475488"/>
          </a:xfrm>
        </p:grpSpPr>
        <p:sp>
          <p:nvSpPr>
            <p:cNvPr id="35" name="Shape 1">
              <a:extLst>
                <a:ext uri="{FF2B5EF4-FFF2-40B4-BE49-F238E27FC236}">
                  <a16:creationId xmlns:a16="http://schemas.microsoft.com/office/drawing/2014/main" id="{E284D290-3DDB-3147-E047-707213CBBEC0}"/>
                </a:ext>
              </a:extLst>
            </p:cNvPr>
            <p:cNvSpPr/>
            <p:nvPr/>
          </p:nvSpPr>
          <p:spPr>
            <a:xfrm>
              <a:off x="502920" y="457200"/>
              <a:ext cx="457200" cy="457200"/>
            </a:xfrm>
            <a:prstGeom prst="ellipse">
              <a:avLst/>
            </a:prstGeom>
            <a:solidFill>
              <a:srgbClr val="1B4332"/>
            </a:solidFill>
            <a:ln/>
          </p:spPr>
        </p:sp>
        <p:pic>
          <p:nvPicPr>
            <p:cNvPr id="36" name="Image 0" descr="/home/claude/work/build/icons/leaf_white.png">
              <a:extLst>
                <a:ext uri="{FF2B5EF4-FFF2-40B4-BE49-F238E27FC236}">
                  <a16:creationId xmlns:a16="http://schemas.microsoft.com/office/drawing/2014/main" id="{E4163B6A-9FD0-FA69-BAD8-3DB4D8DB0FC1}"/>
                </a:ext>
              </a:extLst>
            </p:cNvPr>
            <p:cNvPicPr>
              <a:picLocks noChangeAspect="1"/>
            </p:cNvPicPr>
            <p:nvPr/>
          </p:nvPicPr>
          <p:blipFill>
            <a:blip r:embed="rId2"/>
            <a:stretch>
              <a:fillRect/>
            </a:stretch>
          </p:blipFill>
          <p:spPr>
            <a:xfrm>
              <a:off x="603504" y="557784"/>
              <a:ext cx="256032" cy="256032"/>
            </a:xfrm>
            <a:prstGeom prst="rect">
              <a:avLst/>
            </a:prstGeom>
          </p:spPr>
        </p:pic>
        <p:sp>
          <p:nvSpPr>
            <p:cNvPr id="37" name="Text 2">
              <a:extLst>
                <a:ext uri="{FF2B5EF4-FFF2-40B4-BE49-F238E27FC236}">
                  <a16:creationId xmlns:a16="http://schemas.microsoft.com/office/drawing/2014/main" id="{E1D707B9-B2D9-36D3-F6A9-11F236B3E8BF}"/>
                </a:ext>
              </a:extLst>
            </p:cNvPr>
            <p:cNvSpPr/>
            <p:nvPr/>
          </p:nvSpPr>
          <p:spPr>
            <a:xfrm>
              <a:off x="1051560" y="438912"/>
              <a:ext cx="2743200" cy="274320"/>
            </a:xfrm>
            <a:prstGeom prst="rect">
              <a:avLst/>
            </a:prstGeom>
            <a:noFill/>
            <a:ln/>
          </p:spPr>
          <p:txBody>
            <a:bodyPr wrap="square" rtlCol="0" anchor="ctr"/>
            <a:lstStyle/>
            <a:p>
              <a:pPr marL="0" indent="0">
                <a:buNone/>
              </a:pPr>
              <a:r>
                <a:rPr lang="en-US" sz="1500" b="1" kern="0" spc="50" dirty="0">
                  <a:solidFill>
                    <a:srgbClr val="1B4332"/>
                  </a:solidFill>
                  <a:latin typeface="Calibri" pitchFamily="34" charset="0"/>
                  <a:ea typeface="Calibri" pitchFamily="34" charset="-122"/>
                  <a:cs typeface="Calibri" pitchFamily="34" charset="-120"/>
                </a:rPr>
                <a:t>TEAM SANJIVANI</a:t>
              </a:r>
              <a:endParaRPr lang="en-US" sz="1500" dirty="0"/>
            </a:p>
          </p:txBody>
        </p:sp>
        <p:sp>
          <p:nvSpPr>
            <p:cNvPr id="38" name="Text 3">
              <a:extLst>
                <a:ext uri="{FF2B5EF4-FFF2-40B4-BE49-F238E27FC236}">
                  <a16:creationId xmlns:a16="http://schemas.microsoft.com/office/drawing/2014/main" id="{B482A8B9-5101-ED99-7FDD-B200696EA2D9}"/>
                </a:ext>
              </a:extLst>
            </p:cNvPr>
            <p:cNvSpPr/>
            <p:nvPr/>
          </p:nvSpPr>
          <p:spPr>
            <a:xfrm>
              <a:off x="1051560" y="713232"/>
              <a:ext cx="2743200" cy="201168"/>
            </a:xfrm>
            <a:prstGeom prst="rect">
              <a:avLst/>
            </a:prstGeom>
            <a:noFill/>
            <a:ln/>
          </p:spPr>
          <p:txBody>
            <a:bodyPr wrap="square" rtlCol="0" anchor="ctr"/>
            <a:lstStyle/>
            <a:p>
              <a:pPr marL="0" indent="0">
                <a:buNone/>
              </a:pPr>
              <a:r>
                <a:rPr lang="en-US" sz="950" i="1" dirty="0">
                  <a:solidFill>
                    <a:srgbClr val="52796F"/>
                  </a:solidFill>
                  <a:latin typeface="Calibri" pitchFamily="34" charset="0"/>
                  <a:ea typeface="Calibri" pitchFamily="34" charset="-122"/>
                  <a:cs typeface="Calibri" pitchFamily="34" charset="-120"/>
                </a:rPr>
                <a:t>Team</a:t>
              </a:r>
              <a:endParaRPr lang="en-US" sz="950" dirty="0"/>
            </a:p>
          </p:txBody>
        </p:sp>
      </p:grpSp>
      <p:sp>
        <p:nvSpPr>
          <p:cNvPr id="40" name="TextBox 39">
            <a:extLst>
              <a:ext uri="{FF2B5EF4-FFF2-40B4-BE49-F238E27FC236}">
                <a16:creationId xmlns:a16="http://schemas.microsoft.com/office/drawing/2014/main" id="{D50A23AC-403A-2E3C-F4BE-908E6848E59D}"/>
              </a:ext>
            </a:extLst>
          </p:cNvPr>
          <p:cNvSpPr txBox="1"/>
          <p:nvPr/>
        </p:nvSpPr>
        <p:spPr>
          <a:xfrm>
            <a:off x="4129030" y="708723"/>
            <a:ext cx="3412731" cy="584775"/>
          </a:xfrm>
          <a:prstGeom prst="rect">
            <a:avLst/>
          </a:prstGeom>
          <a:noFill/>
        </p:spPr>
        <p:txBody>
          <a:bodyPr wrap="square" rtlCol="0">
            <a:spAutoFit/>
          </a:bodyPr>
          <a:lstStyle/>
          <a:p>
            <a:pPr algn="ctr"/>
            <a:r>
              <a:rPr lang="en-US" sz="3200" b="1" dirty="0"/>
              <a:t>Outline</a:t>
            </a:r>
            <a:endParaRPr lang="en-IN" sz="3200" b="1" dirty="0"/>
          </a:p>
        </p:txBody>
      </p:sp>
      <p:grpSp>
        <p:nvGrpSpPr>
          <p:cNvPr id="41" name="Group 40">
            <a:extLst>
              <a:ext uri="{FF2B5EF4-FFF2-40B4-BE49-F238E27FC236}">
                <a16:creationId xmlns:a16="http://schemas.microsoft.com/office/drawing/2014/main" id="{27CC4DB1-E6F9-973D-9534-58586A35F555}"/>
              </a:ext>
            </a:extLst>
          </p:cNvPr>
          <p:cNvGrpSpPr/>
          <p:nvPr/>
        </p:nvGrpSpPr>
        <p:grpSpPr>
          <a:xfrm>
            <a:off x="3334512" y="1251326"/>
            <a:ext cx="5001768" cy="64008"/>
            <a:chOff x="502920" y="3332988"/>
            <a:chExt cx="5001768" cy="64008"/>
          </a:xfrm>
        </p:grpSpPr>
        <p:sp>
          <p:nvSpPr>
            <p:cNvPr id="42" name="Shape 10">
              <a:extLst>
                <a:ext uri="{FF2B5EF4-FFF2-40B4-BE49-F238E27FC236}">
                  <a16:creationId xmlns:a16="http://schemas.microsoft.com/office/drawing/2014/main" id="{202332D1-E55B-CCBC-CCEE-85A824F20DD6}"/>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43" name="Shape 11">
              <a:extLst>
                <a:ext uri="{FF2B5EF4-FFF2-40B4-BE49-F238E27FC236}">
                  <a16:creationId xmlns:a16="http://schemas.microsoft.com/office/drawing/2014/main" id="{4D47971C-E843-C1ED-44C8-D293F1E01711}"/>
                </a:ext>
              </a:extLst>
            </p:cNvPr>
            <p:cNvSpPr/>
            <p:nvPr/>
          </p:nvSpPr>
          <p:spPr>
            <a:xfrm>
              <a:off x="2971800" y="3332988"/>
              <a:ext cx="64008" cy="64008"/>
            </a:xfrm>
            <a:prstGeom prst="ellipse">
              <a:avLst/>
            </a:prstGeom>
            <a:solidFill>
              <a:srgbClr val="2F6B3A"/>
            </a:solidFill>
            <a:ln/>
          </p:spPr>
        </p:sp>
        <p:sp>
          <p:nvSpPr>
            <p:cNvPr id="44" name="Shape 12">
              <a:extLst>
                <a:ext uri="{FF2B5EF4-FFF2-40B4-BE49-F238E27FC236}">
                  <a16:creationId xmlns:a16="http://schemas.microsoft.com/office/drawing/2014/main" id="{FB915F72-BBBB-03D8-03C0-0793B560C0AD}"/>
                </a:ext>
              </a:extLst>
            </p:cNvPr>
            <p:cNvSpPr/>
            <p:nvPr/>
          </p:nvSpPr>
          <p:spPr>
            <a:xfrm>
              <a:off x="3127248" y="3364992"/>
              <a:ext cx="2377440" cy="0"/>
            </a:xfrm>
            <a:prstGeom prst="line">
              <a:avLst/>
            </a:prstGeom>
            <a:noFill/>
            <a:ln w="19050">
              <a:solidFill>
                <a:srgbClr val="2F6B3A"/>
              </a:solidFill>
              <a:prstDash val="solid"/>
            </a:ln>
          </p:spPr>
        </p:sp>
      </p:grpSp>
      <p:pic>
        <p:nvPicPr>
          <p:cNvPr id="48" name="Picture 47">
            <a:extLst>
              <a:ext uri="{FF2B5EF4-FFF2-40B4-BE49-F238E27FC236}">
                <a16:creationId xmlns:a16="http://schemas.microsoft.com/office/drawing/2014/main" id="{B1F06E91-0329-6847-ACC1-BAACF6C288FA}"/>
              </a:ext>
            </a:extLst>
          </p:cNvPr>
          <p:cNvPicPr>
            <a:picLocks noChangeAspect="1"/>
          </p:cNvPicPr>
          <p:nvPr/>
        </p:nvPicPr>
        <p:blipFill>
          <a:blip r:embed="rId3"/>
          <a:stretch>
            <a:fillRect/>
          </a:stretch>
        </p:blipFill>
        <p:spPr>
          <a:xfrm>
            <a:off x="7016620" y="1564445"/>
            <a:ext cx="5142850" cy="52935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3CED6-9B08-FB96-2B41-E6E66D8D74E7}"/>
            </a:ext>
          </a:extLst>
        </p:cNvPr>
        <p:cNvGrpSpPr/>
        <p:nvPr/>
      </p:nvGrpSpPr>
      <p:grpSpPr>
        <a:xfrm>
          <a:off x="0" y="0"/>
          <a:ext cx="0" cy="0"/>
          <a:chOff x="0" y="0"/>
          <a:chExt cx="0" cy="0"/>
        </a:xfrm>
      </p:grpSpPr>
      <p:sp>
        <p:nvSpPr>
          <p:cNvPr id="3" name="Arc 2">
            <a:extLst>
              <a:ext uri="{FF2B5EF4-FFF2-40B4-BE49-F238E27FC236}">
                <a16:creationId xmlns:a16="http://schemas.microsoft.com/office/drawing/2014/main" id="{59E490E7-FE18-B336-03BE-780AD21D2C9A}"/>
              </a:ext>
            </a:extLst>
          </p:cNvPr>
          <p:cNvSpPr/>
          <p:nvPr/>
        </p:nvSpPr>
        <p:spPr>
          <a:xfrm>
            <a:off x="-182880" y="9144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Arc 3">
            <a:extLst>
              <a:ext uri="{FF2B5EF4-FFF2-40B4-BE49-F238E27FC236}">
                <a16:creationId xmlns:a16="http://schemas.microsoft.com/office/drawing/2014/main" id="{7017F4C1-B9A0-E760-45E8-9DB84735F282}"/>
              </a:ext>
            </a:extLst>
          </p:cNvPr>
          <p:cNvSpPr/>
          <p:nvPr/>
        </p:nvSpPr>
        <p:spPr>
          <a:xfrm>
            <a:off x="-109728" y="13716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Arc 4">
            <a:extLst>
              <a:ext uri="{FF2B5EF4-FFF2-40B4-BE49-F238E27FC236}">
                <a16:creationId xmlns:a16="http://schemas.microsoft.com/office/drawing/2014/main" id="{2F3E9B4E-26C0-EF95-948A-6A4D8C4039E9}"/>
              </a:ext>
            </a:extLst>
          </p:cNvPr>
          <p:cNvSpPr/>
          <p:nvPr/>
        </p:nvSpPr>
        <p:spPr>
          <a:xfrm>
            <a:off x="-36576" y="18288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Arc 5">
            <a:extLst>
              <a:ext uri="{FF2B5EF4-FFF2-40B4-BE49-F238E27FC236}">
                <a16:creationId xmlns:a16="http://schemas.microsoft.com/office/drawing/2014/main" id="{E656FC59-A79B-6AE4-66E2-F377CA89884C}"/>
              </a:ext>
            </a:extLst>
          </p:cNvPr>
          <p:cNvSpPr/>
          <p:nvPr/>
        </p:nvSpPr>
        <p:spPr>
          <a:xfrm>
            <a:off x="36575" y="22860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Arc 6">
            <a:extLst>
              <a:ext uri="{FF2B5EF4-FFF2-40B4-BE49-F238E27FC236}">
                <a16:creationId xmlns:a16="http://schemas.microsoft.com/office/drawing/2014/main" id="{8CB7802D-021B-AEC0-F8B5-3C669DA4D529}"/>
              </a:ext>
            </a:extLst>
          </p:cNvPr>
          <p:cNvSpPr/>
          <p:nvPr/>
        </p:nvSpPr>
        <p:spPr>
          <a:xfrm>
            <a:off x="109728" y="27432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34" name="Group 33">
            <a:extLst>
              <a:ext uri="{FF2B5EF4-FFF2-40B4-BE49-F238E27FC236}">
                <a16:creationId xmlns:a16="http://schemas.microsoft.com/office/drawing/2014/main" id="{9502AAD1-B401-25F5-BE0C-A3E31FC6E36C}"/>
              </a:ext>
            </a:extLst>
          </p:cNvPr>
          <p:cNvGrpSpPr/>
          <p:nvPr/>
        </p:nvGrpSpPr>
        <p:grpSpPr>
          <a:xfrm>
            <a:off x="502920" y="438912"/>
            <a:ext cx="3291840" cy="475488"/>
            <a:chOff x="502920" y="438912"/>
            <a:chExt cx="3291840" cy="475488"/>
          </a:xfrm>
        </p:grpSpPr>
        <p:sp>
          <p:nvSpPr>
            <p:cNvPr id="35" name="Shape 1">
              <a:extLst>
                <a:ext uri="{FF2B5EF4-FFF2-40B4-BE49-F238E27FC236}">
                  <a16:creationId xmlns:a16="http://schemas.microsoft.com/office/drawing/2014/main" id="{A8942AED-BFC1-FB80-32F3-F797CF17D5DE}"/>
                </a:ext>
              </a:extLst>
            </p:cNvPr>
            <p:cNvSpPr/>
            <p:nvPr/>
          </p:nvSpPr>
          <p:spPr>
            <a:xfrm>
              <a:off x="502920" y="457200"/>
              <a:ext cx="457200" cy="457200"/>
            </a:xfrm>
            <a:prstGeom prst="ellipse">
              <a:avLst/>
            </a:prstGeom>
            <a:solidFill>
              <a:srgbClr val="1B4332"/>
            </a:solidFill>
            <a:ln/>
          </p:spPr>
        </p:sp>
        <p:pic>
          <p:nvPicPr>
            <p:cNvPr id="36" name="Image 0" descr="/home/claude/work/build/icons/leaf_white.png">
              <a:extLst>
                <a:ext uri="{FF2B5EF4-FFF2-40B4-BE49-F238E27FC236}">
                  <a16:creationId xmlns:a16="http://schemas.microsoft.com/office/drawing/2014/main" id="{8F5AC1B9-609D-63EB-3A22-3B50546BFF58}"/>
                </a:ext>
              </a:extLst>
            </p:cNvPr>
            <p:cNvPicPr>
              <a:picLocks noChangeAspect="1"/>
            </p:cNvPicPr>
            <p:nvPr/>
          </p:nvPicPr>
          <p:blipFill>
            <a:blip r:embed="rId2"/>
            <a:stretch>
              <a:fillRect/>
            </a:stretch>
          </p:blipFill>
          <p:spPr>
            <a:xfrm>
              <a:off x="603504" y="557784"/>
              <a:ext cx="256032" cy="256032"/>
            </a:xfrm>
            <a:prstGeom prst="rect">
              <a:avLst/>
            </a:prstGeom>
          </p:spPr>
        </p:pic>
        <p:sp>
          <p:nvSpPr>
            <p:cNvPr id="37" name="Text 2">
              <a:extLst>
                <a:ext uri="{FF2B5EF4-FFF2-40B4-BE49-F238E27FC236}">
                  <a16:creationId xmlns:a16="http://schemas.microsoft.com/office/drawing/2014/main" id="{7791B5FB-C1EF-09BC-0CC7-07D444B89A0A}"/>
                </a:ext>
              </a:extLst>
            </p:cNvPr>
            <p:cNvSpPr/>
            <p:nvPr/>
          </p:nvSpPr>
          <p:spPr>
            <a:xfrm>
              <a:off x="1051560" y="438912"/>
              <a:ext cx="2743200" cy="274320"/>
            </a:xfrm>
            <a:prstGeom prst="rect">
              <a:avLst/>
            </a:prstGeom>
            <a:noFill/>
            <a:ln/>
          </p:spPr>
          <p:txBody>
            <a:bodyPr wrap="square" rtlCol="0" anchor="ctr"/>
            <a:lstStyle/>
            <a:p>
              <a:pPr marL="0" indent="0">
                <a:buNone/>
              </a:pPr>
              <a:r>
                <a:rPr lang="en-US" sz="1500" b="1" kern="0" spc="50" dirty="0">
                  <a:solidFill>
                    <a:srgbClr val="1B4332"/>
                  </a:solidFill>
                  <a:latin typeface="Calibri" pitchFamily="34" charset="0"/>
                  <a:ea typeface="Calibri" pitchFamily="34" charset="-122"/>
                  <a:cs typeface="Calibri" pitchFamily="34" charset="-120"/>
                </a:rPr>
                <a:t>TEAM SANJIVANI</a:t>
              </a:r>
              <a:endParaRPr lang="en-US" sz="1500" dirty="0"/>
            </a:p>
          </p:txBody>
        </p:sp>
        <p:sp>
          <p:nvSpPr>
            <p:cNvPr id="38" name="Text 3">
              <a:extLst>
                <a:ext uri="{FF2B5EF4-FFF2-40B4-BE49-F238E27FC236}">
                  <a16:creationId xmlns:a16="http://schemas.microsoft.com/office/drawing/2014/main" id="{61D61C20-08C8-C85A-F887-703B913C44AE}"/>
                </a:ext>
              </a:extLst>
            </p:cNvPr>
            <p:cNvSpPr/>
            <p:nvPr/>
          </p:nvSpPr>
          <p:spPr>
            <a:xfrm>
              <a:off x="1051560" y="713232"/>
              <a:ext cx="2743200" cy="201168"/>
            </a:xfrm>
            <a:prstGeom prst="rect">
              <a:avLst/>
            </a:prstGeom>
            <a:noFill/>
            <a:ln/>
          </p:spPr>
          <p:txBody>
            <a:bodyPr wrap="square" rtlCol="0" anchor="ctr"/>
            <a:lstStyle/>
            <a:p>
              <a:pPr marL="0" indent="0">
                <a:buNone/>
              </a:pPr>
              <a:r>
                <a:rPr lang="en-US" sz="950" i="1" dirty="0">
                  <a:solidFill>
                    <a:srgbClr val="52796F"/>
                  </a:solidFill>
                  <a:latin typeface="Calibri" pitchFamily="34" charset="0"/>
                  <a:ea typeface="Calibri" pitchFamily="34" charset="-122"/>
                  <a:cs typeface="Calibri" pitchFamily="34" charset="-120"/>
                </a:rPr>
                <a:t>Team</a:t>
              </a:r>
              <a:endParaRPr lang="en-US" sz="950" dirty="0"/>
            </a:p>
          </p:txBody>
        </p:sp>
      </p:grpSp>
      <p:sp>
        <p:nvSpPr>
          <p:cNvPr id="40" name="TextBox 39">
            <a:extLst>
              <a:ext uri="{FF2B5EF4-FFF2-40B4-BE49-F238E27FC236}">
                <a16:creationId xmlns:a16="http://schemas.microsoft.com/office/drawing/2014/main" id="{5DB60EED-7FAC-D943-3FC7-DCD71B7BD97E}"/>
              </a:ext>
            </a:extLst>
          </p:cNvPr>
          <p:cNvSpPr txBox="1"/>
          <p:nvPr/>
        </p:nvSpPr>
        <p:spPr>
          <a:xfrm>
            <a:off x="3763775" y="390066"/>
            <a:ext cx="4207250" cy="646331"/>
          </a:xfrm>
          <a:prstGeom prst="rect">
            <a:avLst/>
          </a:prstGeom>
          <a:noFill/>
        </p:spPr>
        <p:txBody>
          <a:bodyPr wrap="square" rtlCol="0">
            <a:spAutoFit/>
          </a:bodyPr>
          <a:lstStyle/>
          <a:p>
            <a:pPr algn="ctr"/>
            <a:r>
              <a:rPr lang="en-US" sz="3600" b="1" dirty="0"/>
              <a:t>Problem Statement</a:t>
            </a:r>
            <a:endParaRPr lang="en-IN" sz="3600" b="1" dirty="0"/>
          </a:p>
        </p:txBody>
      </p:sp>
      <p:grpSp>
        <p:nvGrpSpPr>
          <p:cNvPr id="41" name="Group 40">
            <a:extLst>
              <a:ext uri="{FF2B5EF4-FFF2-40B4-BE49-F238E27FC236}">
                <a16:creationId xmlns:a16="http://schemas.microsoft.com/office/drawing/2014/main" id="{372FAF83-710C-DB14-F61C-79CFEC345763}"/>
              </a:ext>
            </a:extLst>
          </p:cNvPr>
          <p:cNvGrpSpPr/>
          <p:nvPr/>
        </p:nvGrpSpPr>
        <p:grpSpPr>
          <a:xfrm>
            <a:off x="3366516" y="1036397"/>
            <a:ext cx="5001768" cy="64008"/>
            <a:chOff x="502920" y="3332988"/>
            <a:chExt cx="5001768" cy="64008"/>
          </a:xfrm>
        </p:grpSpPr>
        <p:sp>
          <p:nvSpPr>
            <p:cNvPr id="42" name="Shape 10">
              <a:extLst>
                <a:ext uri="{FF2B5EF4-FFF2-40B4-BE49-F238E27FC236}">
                  <a16:creationId xmlns:a16="http://schemas.microsoft.com/office/drawing/2014/main" id="{DA4E79C5-4F90-AFF9-0269-AFA843D9AEE9}"/>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43" name="Shape 11">
              <a:extLst>
                <a:ext uri="{FF2B5EF4-FFF2-40B4-BE49-F238E27FC236}">
                  <a16:creationId xmlns:a16="http://schemas.microsoft.com/office/drawing/2014/main" id="{83A050D7-5386-A766-31D7-F147BCDA6265}"/>
                </a:ext>
              </a:extLst>
            </p:cNvPr>
            <p:cNvSpPr/>
            <p:nvPr/>
          </p:nvSpPr>
          <p:spPr>
            <a:xfrm>
              <a:off x="2971800" y="3332988"/>
              <a:ext cx="64008" cy="64008"/>
            </a:xfrm>
            <a:prstGeom prst="ellipse">
              <a:avLst/>
            </a:prstGeom>
            <a:solidFill>
              <a:srgbClr val="2F6B3A"/>
            </a:solidFill>
            <a:ln/>
          </p:spPr>
        </p:sp>
        <p:sp>
          <p:nvSpPr>
            <p:cNvPr id="44" name="Shape 12">
              <a:extLst>
                <a:ext uri="{FF2B5EF4-FFF2-40B4-BE49-F238E27FC236}">
                  <a16:creationId xmlns:a16="http://schemas.microsoft.com/office/drawing/2014/main" id="{F9E367C3-F5FD-A054-041E-7338EB304ABB}"/>
                </a:ext>
              </a:extLst>
            </p:cNvPr>
            <p:cNvSpPr/>
            <p:nvPr/>
          </p:nvSpPr>
          <p:spPr>
            <a:xfrm>
              <a:off x="3127248" y="3364992"/>
              <a:ext cx="2377440" cy="0"/>
            </a:xfrm>
            <a:prstGeom prst="line">
              <a:avLst/>
            </a:prstGeom>
            <a:noFill/>
            <a:ln w="19050">
              <a:solidFill>
                <a:srgbClr val="2F6B3A"/>
              </a:solidFill>
              <a:prstDash val="solid"/>
            </a:ln>
          </p:spPr>
        </p:sp>
      </p:grpSp>
      <p:sp>
        <p:nvSpPr>
          <p:cNvPr id="8" name="TextBox 7">
            <a:extLst>
              <a:ext uri="{FF2B5EF4-FFF2-40B4-BE49-F238E27FC236}">
                <a16:creationId xmlns:a16="http://schemas.microsoft.com/office/drawing/2014/main" id="{5CB76AEF-EC21-379B-1DCD-033A98195EB8}"/>
              </a:ext>
            </a:extLst>
          </p:cNvPr>
          <p:cNvSpPr txBox="1"/>
          <p:nvPr/>
        </p:nvSpPr>
        <p:spPr>
          <a:xfrm>
            <a:off x="109728" y="1143000"/>
            <a:ext cx="8160593" cy="5727850"/>
          </a:xfrm>
          <a:prstGeom prst="rect">
            <a:avLst/>
          </a:prstGeom>
          <a:noFill/>
        </p:spPr>
        <p:txBody>
          <a:bodyPr wrap="square" rtlCol="0">
            <a:spAutoFit/>
          </a:bodyPr>
          <a:lstStyle/>
          <a:p>
            <a:pPr>
              <a:lnSpc>
                <a:spcPct val="150000"/>
              </a:lnSpc>
            </a:pPr>
            <a:r>
              <a:rPr lang="en-US" dirty="0"/>
              <a:t>Landslides are a major natural hazard in hilly and mountainous regions, where factors such as heavy rainfall, soil moisture, slope, elevation, geology, and land cover can contribute to slope instability. Existing methods often rely on static susceptibility maps or individual environmental factors, which may not adequately show how landslide risk changes over time.</a:t>
            </a:r>
          </a:p>
          <a:p>
            <a:pPr>
              <a:lnSpc>
                <a:spcPct val="150000"/>
              </a:lnSpc>
            </a:pPr>
            <a:endParaRPr lang="en-US" dirty="0"/>
          </a:p>
          <a:p>
            <a:pPr marL="285750" lvl="0" indent="-285750">
              <a:buFont typeface="Wingdings" panose="05000000000000000000" pitchFamily="2" charset="2"/>
              <a:buChar char="v"/>
            </a:pPr>
            <a:r>
              <a:rPr lang="en-IN" b="1" dirty="0"/>
              <a:t>Rising Climate Risk</a:t>
            </a:r>
            <a:r>
              <a:rPr lang="en-IN" dirty="0"/>
              <a:t> — Erratic rainfall from climate change is triggering more frequent landslides in hilly terrain.</a:t>
            </a:r>
          </a:p>
          <a:p>
            <a:pPr marL="285750" lvl="0" indent="-285750">
              <a:buFont typeface="Wingdings" panose="05000000000000000000" pitchFamily="2" charset="2"/>
              <a:buChar char="v"/>
            </a:pPr>
            <a:r>
              <a:rPr lang="en-IN" b="1" dirty="0"/>
              <a:t>Unused Historical Data</a:t>
            </a:r>
            <a:r>
              <a:rPr lang="en-IN" dirty="0"/>
              <a:t> — Rainfall, terrain, and soil data already exist across agencies but are never combined for prediction.</a:t>
            </a:r>
          </a:p>
          <a:p>
            <a:pPr marL="285750" lvl="0" indent="-285750">
              <a:buFont typeface="Wingdings" panose="05000000000000000000" pitchFamily="2" charset="2"/>
              <a:buChar char="v"/>
            </a:pPr>
            <a:r>
              <a:rPr lang="en-IN" b="1" dirty="0"/>
              <a:t>Slow, Generic Warnings</a:t>
            </a:r>
            <a:r>
              <a:rPr lang="en-IN" dirty="0"/>
              <a:t> — Current alerts are broad and delayed, leaving little time for at-risk communities to act.</a:t>
            </a:r>
          </a:p>
          <a:p>
            <a:pPr marL="285750" lvl="0" indent="-285750">
              <a:buFont typeface="Wingdings" panose="05000000000000000000" pitchFamily="2" charset="2"/>
              <a:buChar char="v"/>
            </a:pPr>
            <a:r>
              <a:rPr lang="en-IN" b="1" dirty="0"/>
              <a:t>High Exposure, No Tools</a:t>
            </a:r>
            <a:r>
              <a:rPr lang="en-IN" dirty="0"/>
              <a:t> — Remote hill regions face the highest risk with the least access to predictive monitoring.</a:t>
            </a:r>
          </a:p>
          <a:p>
            <a:pPr marL="285750" lvl="0" indent="-285750">
              <a:buFont typeface="Wingdings" panose="05000000000000000000" pitchFamily="2" charset="2"/>
              <a:buChar char="v"/>
            </a:pPr>
            <a:r>
              <a:rPr lang="en-IN" b="1" dirty="0"/>
              <a:t>No Software-Only Solution</a:t>
            </a:r>
            <a:r>
              <a:rPr lang="en-IN" dirty="0"/>
              <a:t> — Most proposed systems rely on costly sensor hardware instead of existing open data.</a:t>
            </a:r>
          </a:p>
          <a:p>
            <a:pPr>
              <a:lnSpc>
                <a:spcPct val="150000"/>
              </a:lnSpc>
            </a:pPr>
            <a:endParaRPr lang="en-IN" dirty="0"/>
          </a:p>
        </p:txBody>
      </p:sp>
      <p:pic>
        <p:nvPicPr>
          <p:cNvPr id="10" name="Picture 9">
            <a:extLst>
              <a:ext uri="{FF2B5EF4-FFF2-40B4-BE49-F238E27FC236}">
                <a16:creationId xmlns:a16="http://schemas.microsoft.com/office/drawing/2014/main" id="{A287F8F2-580E-CF75-9FD0-EF869C2DD307}"/>
              </a:ext>
            </a:extLst>
          </p:cNvPr>
          <p:cNvPicPr>
            <a:picLocks noChangeAspect="1"/>
          </p:cNvPicPr>
          <p:nvPr/>
        </p:nvPicPr>
        <p:blipFill>
          <a:blip r:embed="rId3"/>
          <a:stretch>
            <a:fillRect/>
          </a:stretch>
        </p:blipFill>
        <p:spPr>
          <a:xfrm>
            <a:off x="8483603" y="1036396"/>
            <a:ext cx="3708397" cy="5821604"/>
          </a:xfrm>
          <a:prstGeom prst="rect">
            <a:avLst/>
          </a:prstGeom>
        </p:spPr>
      </p:pic>
    </p:spTree>
    <p:extLst>
      <p:ext uri="{BB962C8B-B14F-4D97-AF65-F5344CB8AC3E}">
        <p14:creationId xmlns:p14="http://schemas.microsoft.com/office/powerpoint/2010/main" val="3253340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8E9CF-98D1-E28A-4CBB-A04AE99CAE9D}"/>
            </a:ext>
          </a:extLst>
        </p:cNvPr>
        <p:cNvGrpSpPr/>
        <p:nvPr/>
      </p:nvGrpSpPr>
      <p:grpSpPr>
        <a:xfrm>
          <a:off x="0" y="0"/>
          <a:ext cx="0" cy="0"/>
          <a:chOff x="0" y="0"/>
          <a:chExt cx="0" cy="0"/>
        </a:xfrm>
      </p:grpSpPr>
      <p:sp>
        <p:nvSpPr>
          <p:cNvPr id="3" name="Arc 2">
            <a:extLst>
              <a:ext uri="{FF2B5EF4-FFF2-40B4-BE49-F238E27FC236}">
                <a16:creationId xmlns:a16="http://schemas.microsoft.com/office/drawing/2014/main" id="{771C4100-1869-70A9-2B46-EDDAC92A44BC}"/>
              </a:ext>
            </a:extLst>
          </p:cNvPr>
          <p:cNvSpPr/>
          <p:nvPr/>
        </p:nvSpPr>
        <p:spPr>
          <a:xfrm>
            <a:off x="-182880" y="9144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Arc 3">
            <a:extLst>
              <a:ext uri="{FF2B5EF4-FFF2-40B4-BE49-F238E27FC236}">
                <a16:creationId xmlns:a16="http://schemas.microsoft.com/office/drawing/2014/main" id="{FF0C5D35-2E86-7296-EFF6-BA4545CDF3A4}"/>
              </a:ext>
            </a:extLst>
          </p:cNvPr>
          <p:cNvSpPr/>
          <p:nvPr/>
        </p:nvSpPr>
        <p:spPr>
          <a:xfrm>
            <a:off x="-109728" y="13716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Arc 4">
            <a:extLst>
              <a:ext uri="{FF2B5EF4-FFF2-40B4-BE49-F238E27FC236}">
                <a16:creationId xmlns:a16="http://schemas.microsoft.com/office/drawing/2014/main" id="{DE0C9368-0F2B-0AFD-0DF0-73D0946FC52D}"/>
              </a:ext>
            </a:extLst>
          </p:cNvPr>
          <p:cNvSpPr/>
          <p:nvPr/>
        </p:nvSpPr>
        <p:spPr>
          <a:xfrm>
            <a:off x="-36576" y="18288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Arc 5">
            <a:extLst>
              <a:ext uri="{FF2B5EF4-FFF2-40B4-BE49-F238E27FC236}">
                <a16:creationId xmlns:a16="http://schemas.microsoft.com/office/drawing/2014/main" id="{91F4411B-ED34-8E50-C0F0-AE77491CE49E}"/>
              </a:ext>
            </a:extLst>
          </p:cNvPr>
          <p:cNvSpPr/>
          <p:nvPr/>
        </p:nvSpPr>
        <p:spPr>
          <a:xfrm>
            <a:off x="36575" y="22860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Arc 6">
            <a:extLst>
              <a:ext uri="{FF2B5EF4-FFF2-40B4-BE49-F238E27FC236}">
                <a16:creationId xmlns:a16="http://schemas.microsoft.com/office/drawing/2014/main" id="{4B06E586-0E2C-13C6-40E6-6FE931DC6A7B}"/>
              </a:ext>
            </a:extLst>
          </p:cNvPr>
          <p:cNvSpPr/>
          <p:nvPr/>
        </p:nvSpPr>
        <p:spPr>
          <a:xfrm>
            <a:off x="109728" y="274320"/>
            <a:ext cx="1280160" cy="640080"/>
          </a:xfrm>
          <a:prstGeom prst="arc">
            <a:avLst/>
          </a:prstGeom>
          <a:noFill/>
          <a:ln w="12700">
            <a:solidFill>
              <a:srgbClr val="D7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34" name="Group 33">
            <a:extLst>
              <a:ext uri="{FF2B5EF4-FFF2-40B4-BE49-F238E27FC236}">
                <a16:creationId xmlns:a16="http://schemas.microsoft.com/office/drawing/2014/main" id="{E554200E-206E-D5E0-F7A9-F84B949C713B}"/>
              </a:ext>
            </a:extLst>
          </p:cNvPr>
          <p:cNvGrpSpPr/>
          <p:nvPr/>
        </p:nvGrpSpPr>
        <p:grpSpPr>
          <a:xfrm>
            <a:off x="502920" y="438912"/>
            <a:ext cx="3291840" cy="475488"/>
            <a:chOff x="502920" y="438912"/>
            <a:chExt cx="3291840" cy="475488"/>
          </a:xfrm>
        </p:grpSpPr>
        <p:sp>
          <p:nvSpPr>
            <p:cNvPr id="35" name="Shape 1">
              <a:extLst>
                <a:ext uri="{FF2B5EF4-FFF2-40B4-BE49-F238E27FC236}">
                  <a16:creationId xmlns:a16="http://schemas.microsoft.com/office/drawing/2014/main" id="{B1685AF7-7004-66DE-754A-D75B02E8BC7B}"/>
                </a:ext>
              </a:extLst>
            </p:cNvPr>
            <p:cNvSpPr/>
            <p:nvPr/>
          </p:nvSpPr>
          <p:spPr>
            <a:xfrm>
              <a:off x="502920" y="457200"/>
              <a:ext cx="457200" cy="457200"/>
            </a:xfrm>
            <a:prstGeom prst="ellipse">
              <a:avLst/>
            </a:prstGeom>
            <a:solidFill>
              <a:srgbClr val="1B4332"/>
            </a:solidFill>
            <a:ln/>
          </p:spPr>
        </p:sp>
        <p:pic>
          <p:nvPicPr>
            <p:cNvPr id="36" name="Image 0" descr="/home/claude/work/build/icons/leaf_white.png">
              <a:extLst>
                <a:ext uri="{FF2B5EF4-FFF2-40B4-BE49-F238E27FC236}">
                  <a16:creationId xmlns:a16="http://schemas.microsoft.com/office/drawing/2014/main" id="{D6640111-F989-6F24-28E9-06F3244D96AE}"/>
                </a:ext>
              </a:extLst>
            </p:cNvPr>
            <p:cNvPicPr>
              <a:picLocks noChangeAspect="1"/>
            </p:cNvPicPr>
            <p:nvPr/>
          </p:nvPicPr>
          <p:blipFill>
            <a:blip r:embed="rId2"/>
            <a:stretch>
              <a:fillRect/>
            </a:stretch>
          </p:blipFill>
          <p:spPr>
            <a:xfrm>
              <a:off x="603504" y="557784"/>
              <a:ext cx="256032" cy="256032"/>
            </a:xfrm>
            <a:prstGeom prst="rect">
              <a:avLst/>
            </a:prstGeom>
          </p:spPr>
        </p:pic>
        <p:sp>
          <p:nvSpPr>
            <p:cNvPr id="37" name="Text 2">
              <a:extLst>
                <a:ext uri="{FF2B5EF4-FFF2-40B4-BE49-F238E27FC236}">
                  <a16:creationId xmlns:a16="http://schemas.microsoft.com/office/drawing/2014/main" id="{5E22A298-34AF-ADE1-556B-260B028BAAC9}"/>
                </a:ext>
              </a:extLst>
            </p:cNvPr>
            <p:cNvSpPr/>
            <p:nvPr/>
          </p:nvSpPr>
          <p:spPr>
            <a:xfrm>
              <a:off x="1051560" y="438912"/>
              <a:ext cx="2743200" cy="274320"/>
            </a:xfrm>
            <a:prstGeom prst="rect">
              <a:avLst/>
            </a:prstGeom>
            <a:noFill/>
            <a:ln/>
          </p:spPr>
          <p:txBody>
            <a:bodyPr wrap="square" rtlCol="0" anchor="ctr"/>
            <a:lstStyle/>
            <a:p>
              <a:pPr marL="0" indent="0">
                <a:buNone/>
              </a:pPr>
              <a:r>
                <a:rPr lang="en-US" sz="1500" b="1" dirty="0"/>
                <a:t>TEAM SANJIVANI</a:t>
              </a:r>
            </a:p>
          </p:txBody>
        </p:sp>
        <p:sp>
          <p:nvSpPr>
            <p:cNvPr id="38" name="Text 3">
              <a:extLst>
                <a:ext uri="{FF2B5EF4-FFF2-40B4-BE49-F238E27FC236}">
                  <a16:creationId xmlns:a16="http://schemas.microsoft.com/office/drawing/2014/main" id="{02C980D1-CEC4-18BF-F6D8-D347A2B270C2}"/>
                </a:ext>
              </a:extLst>
            </p:cNvPr>
            <p:cNvSpPr/>
            <p:nvPr/>
          </p:nvSpPr>
          <p:spPr>
            <a:xfrm>
              <a:off x="1051560" y="713232"/>
              <a:ext cx="2743200" cy="201168"/>
            </a:xfrm>
            <a:prstGeom prst="rect">
              <a:avLst/>
            </a:prstGeom>
            <a:noFill/>
            <a:ln/>
          </p:spPr>
          <p:txBody>
            <a:bodyPr wrap="square" rtlCol="0" anchor="ctr"/>
            <a:lstStyle/>
            <a:p>
              <a:pPr marL="0" indent="0">
                <a:buNone/>
              </a:pPr>
              <a:r>
                <a:rPr lang="en-US" sz="950" i="1" dirty="0">
                  <a:solidFill>
                    <a:srgbClr val="52796F"/>
                  </a:solidFill>
                  <a:latin typeface="Calibri" pitchFamily="34" charset="0"/>
                  <a:ea typeface="Calibri" pitchFamily="34" charset="-122"/>
                  <a:cs typeface="Calibri" pitchFamily="34" charset="-120"/>
                </a:rPr>
                <a:t>Team</a:t>
              </a:r>
              <a:endParaRPr lang="en-US" sz="950" dirty="0"/>
            </a:p>
          </p:txBody>
        </p:sp>
      </p:grpSp>
      <p:sp>
        <p:nvSpPr>
          <p:cNvPr id="40" name="TextBox 39">
            <a:extLst>
              <a:ext uri="{FF2B5EF4-FFF2-40B4-BE49-F238E27FC236}">
                <a16:creationId xmlns:a16="http://schemas.microsoft.com/office/drawing/2014/main" id="{F977AF8E-67C1-9666-CAE0-16A29F392669}"/>
              </a:ext>
            </a:extLst>
          </p:cNvPr>
          <p:cNvSpPr txBox="1"/>
          <p:nvPr/>
        </p:nvSpPr>
        <p:spPr>
          <a:xfrm>
            <a:off x="3763775" y="390066"/>
            <a:ext cx="4207250" cy="646331"/>
          </a:xfrm>
          <a:prstGeom prst="rect">
            <a:avLst/>
          </a:prstGeom>
          <a:noFill/>
        </p:spPr>
        <p:txBody>
          <a:bodyPr wrap="square" rtlCol="0">
            <a:spAutoFit/>
          </a:bodyPr>
          <a:lstStyle/>
          <a:p>
            <a:pPr algn="ctr"/>
            <a:r>
              <a:rPr lang="en-US" sz="3600" b="1" dirty="0"/>
              <a:t>Objectives</a:t>
            </a:r>
            <a:endParaRPr lang="en-IN" sz="3600" b="1" dirty="0"/>
          </a:p>
        </p:txBody>
      </p:sp>
      <p:grpSp>
        <p:nvGrpSpPr>
          <p:cNvPr id="41" name="Group 40">
            <a:extLst>
              <a:ext uri="{FF2B5EF4-FFF2-40B4-BE49-F238E27FC236}">
                <a16:creationId xmlns:a16="http://schemas.microsoft.com/office/drawing/2014/main" id="{D15171D8-C384-7394-9A34-BE4A186400FB}"/>
              </a:ext>
            </a:extLst>
          </p:cNvPr>
          <p:cNvGrpSpPr/>
          <p:nvPr/>
        </p:nvGrpSpPr>
        <p:grpSpPr>
          <a:xfrm>
            <a:off x="3366516" y="1036397"/>
            <a:ext cx="5001768" cy="64008"/>
            <a:chOff x="502920" y="3332988"/>
            <a:chExt cx="5001768" cy="64008"/>
          </a:xfrm>
        </p:grpSpPr>
        <p:sp>
          <p:nvSpPr>
            <p:cNvPr id="42" name="Shape 10">
              <a:extLst>
                <a:ext uri="{FF2B5EF4-FFF2-40B4-BE49-F238E27FC236}">
                  <a16:creationId xmlns:a16="http://schemas.microsoft.com/office/drawing/2014/main" id="{AA391999-3463-B044-7B3B-E3DF366AE18F}"/>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43" name="Shape 11">
              <a:extLst>
                <a:ext uri="{FF2B5EF4-FFF2-40B4-BE49-F238E27FC236}">
                  <a16:creationId xmlns:a16="http://schemas.microsoft.com/office/drawing/2014/main" id="{8DBBC02D-C6BD-E519-E66D-84D2EAD8BD84}"/>
                </a:ext>
              </a:extLst>
            </p:cNvPr>
            <p:cNvSpPr/>
            <p:nvPr/>
          </p:nvSpPr>
          <p:spPr>
            <a:xfrm>
              <a:off x="2971800" y="3332988"/>
              <a:ext cx="64008" cy="64008"/>
            </a:xfrm>
            <a:prstGeom prst="ellipse">
              <a:avLst/>
            </a:prstGeom>
            <a:solidFill>
              <a:srgbClr val="2F6B3A"/>
            </a:solidFill>
            <a:ln/>
          </p:spPr>
        </p:sp>
        <p:sp>
          <p:nvSpPr>
            <p:cNvPr id="44" name="Shape 12">
              <a:extLst>
                <a:ext uri="{FF2B5EF4-FFF2-40B4-BE49-F238E27FC236}">
                  <a16:creationId xmlns:a16="http://schemas.microsoft.com/office/drawing/2014/main" id="{DC32CAE4-B74B-39DA-B2BB-98AD4A387073}"/>
                </a:ext>
              </a:extLst>
            </p:cNvPr>
            <p:cNvSpPr/>
            <p:nvPr/>
          </p:nvSpPr>
          <p:spPr>
            <a:xfrm>
              <a:off x="3127248" y="3364992"/>
              <a:ext cx="2377440" cy="0"/>
            </a:xfrm>
            <a:prstGeom prst="line">
              <a:avLst/>
            </a:prstGeom>
            <a:noFill/>
            <a:ln w="19050">
              <a:solidFill>
                <a:srgbClr val="2F6B3A"/>
              </a:solidFill>
              <a:prstDash val="solid"/>
            </a:ln>
          </p:spPr>
        </p:sp>
      </p:grpSp>
      <p:sp>
        <p:nvSpPr>
          <p:cNvPr id="2" name="TextBox 1">
            <a:extLst>
              <a:ext uri="{FF2B5EF4-FFF2-40B4-BE49-F238E27FC236}">
                <a16:creationId xmlns:a16="http://schemas.microsoft.com/office/drawing/2014/main" id="{3F3228B0-BB79-478D-D686-C49298692088}"/>
              </a:ext>
            </a:extLst>
          </p:cNvPr>
          <p:cNvSpPr txBox="1"/>
          <p:nvPr/>
        </p:nvSpPr>
        <p:spPr>
          <a:xfrm>
            <a:off x="36575" y="1469291"/>
            <a:ext cx="8104875" cy="5035353"/>
          </a:xfrm>
          <a:prstGeom prst="rect">
            <a:avLst/>
          </a:prstGeom>
          <a:noFill/>
        </p:spPr>
        <p:txBody>
          <a:bodyPr wrap="square" rtlCol="0">
            <a:spAutoFit/>
          </a:bodyPr>
          <a:lstStyle/>
          <a:p>
            <a:pPr lvl="0">
              <a:lnSpc>
                <a:spcPct val="150000"/>
              </a:lnSpc>
            </a:pPr>
            <a:r>
              <a:rPr lang="en-US" b="1" dirty="0"/>
              <a:t>📊 Bring Data Together: </a:t>
            </a:r>
            <a:r>
              <a:rPr lang="en-US" dirty="0"/>
              <a:t>Combine rainfall, soil, terrain, and past landslide data in one place.</a:t>
            </a:r>
          </a:p>
          <a:p>
            <a:pPr lvl="0">
              <a:lnSpc>
                <a:spcPct val="150000"/>
              </a:lnSpc>
            </a:pPr>
            <a:r>
              <a:rPr lang="en-US" b="1" dirty="0"/>
              <a:t>🤖 Predict Risk Early: </a:t>
            </a:r>
            <a:r>
              <a:rPr lang="en-US" dirty="0"/>
              <a:t>Use AI to identify areas that may become dangerous before a landslide occurs.</a:t>
            </a:r>
          </a:p>
          <a:p>
            <a:pPr lvl="0">
              <a:lnSpc>
                <a:spcPct val="150000"/>
              </a:lnSpc>
            </a:pPr>
            <a:r>
              <a:rPr lang="en-US" b="1" dirty="0"/>
              <a:t>🚨 Send Timely Warnings: </a:t>
            </a:r>
            <a:r>
              <a:rPr lang="en-US" dirty="0"/>
              <a:t>Alert people through SMS, email, or web notifications so they can act early.</a:t>
            </a:r>
          </a:p>
          <a:p>
            <a:pPr lvl="0">
              <a:lnSpc>
                <a:spcPct val="150000"/>
              </a:lnSpc>
            </a:pPr>
            <a:r>
              <a:rPr lang="en-US" b="1" dirty="0"/>
              <a:t>🗺️ Make Risk Easy to Understand: </a:t>
            </a:r>
            <a:r>
              <a:rPr lang="en-US" dirty="0"/>
              <a:t>Show danger zones and safer routes on a simple map.</a:t>
            </a:r>
          </a:p>
          <a:p>
            <a:pPr lvl="0">
              <a:lnSpc>
                <a:spcPct val="150000"/>
              </a:lnSpc>
            </a:pPr>
            <a:r>
              <a:rPr lang="en-US" b="1" dirty="0"/>
              <a:t>☁️ No Hardware Needed: </a:t>
            </a:r>
            <a:r>
              <a:rPr lang="en-US" dirty="0"/>
              <a:t>Work entirely with existing data, without installing sensors or equipment.</a:t>
            </a:r>
          </a:p>
          <a:p>
            <a:pPr lvl="0">
              <a:lnSpc>
                <a:spcPct val="150000"/>
              </a:lnSpc>
            </a:pPr>
            <a:r>
              <a:rPr lang="en-US" b="1" dirty="0"/>
              <a:t>🌍 Ready for the Future: </a:t>
            </a:r>
            <a:r>
              <a:rPr lang="en-US" dirty="0"/>
              <a:t>Easily expand the system to floods, cloudbursts, and other regions.</a:t>
            </a:r>
            <a:endParaRPr lang="en-IN" dirty="0"/>
          </a:p>
        </p:txBody>
      </p:sp>
      <p:pic>
        <p:nvPicPr>
          <p:cNvPr id="13" name="Picture 12">
            <a:extLst>
              <a:ext uri="{FF2B5EF4-FFF2-40B4-BE49-F238E27FC236}">
                <a16:creationId xmlns:a16="http://schemas.microsoft.com/office/drawing/2014/main" id="{686E9C21-2078-8851-ADD7-8C5E5327CD08}"/>
              </a:ext>
            </a:extLst>
          </p:cNvPr>
          <p:cNvPicPr>
            <a:picLocks noChangeAspect="1"/>
          </p:cNvPicPr>
          <p:nvPr/>
        </p:nvPicPr>
        <p:blipFill>
          <a:blip r:embed="rId3"/>
          <a:stretch>
            <a:fillRect/>
          </a:stretch>
        </p:blipFill>
        <p:spPr>
          <a:xfrm>
            <a:off x="7971024" y="1083563"/>
            <a:ext cx="4220465" cy="5774437"/>
          </a:xfrm>
          <a:prstGeom prst="rect">
            <a:avLst/>
          </a:prstGeom>
        </p:spPr>
      </p:pic>
    </p:spTree>
    <p:extLst>
      <p:ext uri="{BB962C8B-B14F-4D97-AF65-F5344CB8AC3E}">
        <p14:creationId xmlns:p14="http://schemas.microsoft.com/office/powerpoint/2010/main" val="2400591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txBody>
          <a:bodyPr/>
          <a:lstStyle/>
          <a:p>
            <a:endParaRPr lang="en-IN" dirty="0"/>
          </a:p>
        </p:txBody>
      </p:sp>
      <p:sp>
        <p:nvSpPr>
          <p:cNvPr id="3" name="Shape 1"/>
          <p:cNvSpPr/>
          <p:nvPr/>
        </p:nvSpPr>
        <p:spPr>
          <a:xfrm>
            <a:off x="384048" y="292608"/>
            <a:ext cx="365760" cy="365760"/>
          </a:xfrm>
          <a:prstGeom prst="ellipse">
            <a:avLst/>
          </a:prstGeom>
          <a:solidFill>
            <a:srgbClr val="1B4332"/>
          </a:solidFill>
          <a:ln/>
        </p:spPr>
      </p:sp>
      <p:pic>
        <p:nvPicPr>
          <p:cNvPr id="4" name="Image 0" descr="/home/claude/work/build/icons/leaf_white.png"/>
          <p:cNvPicPr>
            <a:picLocks noChangeAspect="1"/>
          </p:cNvPicPr>
          <p:nvPr/>
        </p:nvPicPr>
        <p:blipFill>
          <a:blip r:embed="rId3"/>
          <a:stretch>
            <a:fillRect/>
          </a:stretch>
        </p:blipFill>
        <p:spPr>
          <a:xfrm>
            <a:off x="466344" y="374904"/>
            <a:ext cx="201168" cy="201168"/>
          </a:xfrm>
          <a:prstGeom prst="rect">
            <a:avLst/>
          </a:prstGeom>
        </p:spPr>
      </p:pic>
      <p:sp>
        <p:nvSpPr>
          <p:cNvPr id="5" name="Text 2"/>
          <p:cNvSpPr/>
          <p:nvPr/>
        </p:nvSpPr>
        <p:spPr>
          <a:xfrm>
            <a:off x="841248" y="274320"/>
            <a:ext cx="2011680" cy="219456"/>
          </a:xfrm>
          <a:prstGeom prst="rect">
            <a:avLst/>
          </a:prstGeom>
          <a:noFill/>
          <a:ln/>
        </p:spPr>
        <p:txBody>
          <a:bodyPr wrap="square" rtlCol="0" anchor="ctr"/>
          <a:lstStyle/>
          <a:p>
            <a:pPr marL="0" indent="0">
              <a:buNone/>
            </a:pPr>
            <a:r>
              <a:rPr lang="en-US" sz="1250" b="1" dirty="0"/>
              <a:t>TEAM SANJIVANI</a:t>
            </a:r>
          </a:p>
        </p:txBody>
      </p:sp>
      <p:sp>
        <p:nvSpPr>
          <p:cNvPr id="6" name="Text 3"/>
          <p:cNvSpPr/>
          <p:nvPr/>
        </p:nvSpPr>
        <p:spPr>
          <a:xfrm>
            <a:off x="841248" y="484632"/>
            <a:ext cx="2011680" cy="182880"/>
          </a:xfrm>
          <a:prstGeom prst="rect">
            <a:avLst/>
          </a:prstGeom>
          <a:noFill/>
          <a:ln/>
        </p:spPr>
        <p:txBody>
          <a:bodyPr wrap="square" rtlCol="0" anchor="ctr"/>
          <a:lstStyle/>
          <a:p>
            <a:pPr marL="0" indent="0">
              <a:buNone/>
            </a:pPr>
            <a:r>
              <a:rPr lang="en-US" sz="850" i="1" dirty="0">
                <a:solidFill>
                  <a:srgbClr val="52796F"/>
                </a:solidFill>
                <a:latin typeface="Calibri" pitchFamily="34" charset="0"/>
                <a:ea typeface="Calibri" pitchFamily="34" charset="-122"/>
                <a:cs typeface="Calibri" pitchFamily="34" charset="-120"/>
              </a:rPr>
              <a:t>Team</a:t>
            </a:r>
            <a:endParaRPr lang="en-US" sz="850" dirty="0"/>
          </a:p>
        </p:txBody>
      </p:sp>
      <p:sp>
        <p:nvSpPr>
          <p:cNvPr id="7" name="Text 4"/>
          <p:cNvSpPr/>
          <p:nvPr/>
        </p:nvSpPr>
        <p:spPr>
          <a:xfrm>
            <a:off x="2446020" y="287468"/>
            <a:ext cx="6702552" cy="384048"/>
          </a:xfrm>
          <a:prstGeom prst="rect">
            <a:avLst/>
          </a:prstGeom>
          <a:noFill/>
          <a:ln/>
        </p:spPr>
        <p:txBody>
          <a:bodyPr wrap="square" rtlCol="0" anchor="ctr"/>
          <a:lstStyle/>
          <a:p>
            <a:pPr marL="0" indent="0" algn="ctr">
              <a:buNone/>
            </a:pPr>
            <a:r>
              <a:rPr lang="en-US" sz="3200" b="1" kern="0" spc="50" dirty="0">
                <a:solidFill>
                  <a:srgbClr val="1B4332"/>
                </a:solidFill>
                <a:latin typeface="Cambria" pitchFamily="34" charset="0"/>
                <a:ea typeface="Cambria" pitchFamily="34" charset="-122"/>
              </a:rPr>
              <a:t>Solution / Architecture</a:t>
            </a:r>
            <a:endParaRPr lang="en-US" sz="3200" dirty="0"/>
          </a:p>
        </p:txBody>
      </p:sp>
      <p:sp>
        <p:nvSpPr>
          <p:cNvPr id="13" name="Shape 10"/>
          <p:cNvSpPr/>
          <p:nvPr/>
        </p:nvSpPr>
        <p:spPr>
          <a:xfrm>
            <a:off x="384048" y="969264"/>
            <a:ext cx="11430000" cy="0"/>
          </a:xfrm>
          <a:prstGeom prst="line">
            <a:avLst/>
          </a:prstGeom>
          <a:noFill/>
          <a:ln w="12700">
            <a:solidFill>
              <a:srgbClr val="D8E3DA"/>
            </a:solidFill>
            <a:prstDash val="solid"/>
          </a:ln>
        </p:spPr>
      </p:sp>
      <p:sp>
        <p:nvSpPr>
          <p:cNvPr id="18" name="Text 14"/>
          <p:cNvSpPr/>
          <p:nvPr/>
        </p:nvSpPr>
        <p:spPr>
          <a:xfrm>
            <a:off x="886968" y="1700784"/>
            <a:ext cx="4910328" cy="420624"/>
          </a:xfrm>
          <a:prstGeom prst="rect">
            <a:avLst/>
          </a:prstGeom>
          <a:noFill/>
          <a:ln/>
        </p:spPr>
        <p:txBody>
          <a:bodyPr wrap="square" rtlCol="0" anchor="ctr"/>
          <a:lstStyle/>
          <a:p>
            <a:pPr marL="0" indent="0" algn="l">
              <a:buNone/>
            </a:pPr>
            <a:r>
              <a:rPr lang="en-US" sz="1500" b="1" kern="0" spc="50" dirty="0">
                <a:solidFill>
                  <a:srgbClr val="FFFFFF"/>
                </a:solidFill>
                <a:latin typeface="Calibri" pitchFamily="34" charset="0"/>
                <a:ea typeface="Calibri" pitchFamily="34" charset="-122"/>
                <a:cs typeface="Calibri" pitchFamily="34" charset="-120"/>
              </a:rPr>
              <a:t>OUR PROBLEM</a:t>
            </a:r>
            <a:endParaRPr lang="en-US" sz="1500" dirty="0"/>
          </a:p>
        </p:txBody>
      </p:sp>
      <p:sp>
        <p:nvSpPr>
          <p:cNvPr id="61" name="Shape 48"/>
          <p:cNvSpPr/>
          <p:nvPr/>
        </p:nvSpPr>
        <p:spPr>
          <a:xfrm>
            <a:off x="384048" y="6144768"/>
            <a:ext cx="11430000" cy="457200"/>
          </a:xfrm>
          <a:prstGeom prst="roundRect">
            <a:avLst>
              <a:gd name="adj" fmla="val 18000"/>
            </a:avLst>
          </a:prstGeom>
          <a:solidFill>
            <a:srgbClr val="10231A"/>
          </a:solidFill>
          <a:ln/>
        </p:spPr>
      </p:sp>
      <p:sp>
        <p:nvSpPr>
          <p:cNvPr id="62" name="Text 49"/>
          <p:cNvSpPr/>
          <p:nvPr/>
        </p:nvSpPr>
        <p:spPr>
          <a:xfrm>
            <a:off x="621792" y="6144768"/>
            <a:ext cx="10972800" cy="457200"/>
          </a:xfrm>
          <a:prstGeom prst="rect">
            <a:avLst/>
          </a:prstGeom>
          <a:noFill/>
          <a:ln/>
        </p:spPr>
        <p:txBody>
          <a:bodyPr wrap="square" rtlCol="0" anchor="ctr"/>
          <a:lstStyle/>
          <a:p>
            <a:pPr marL="0" indent="0">
              <a:buNone/>
            </a:pPr>
            <a:r>
              <a:rPr lang="en-US" sz="1080" b="1" dirty="0">
                <a:solidFill>
                  <a:srgbClr val="C98A00"/>
                </a:solidFill>
                <a:latin typeface="Calibri" pitchFamily="34" charset="0"/>
                <a:ea typeface="Calibri" pitchFamily="34" charset="-122"/>
                <a:cs typeface="Calibri" pitchFamily="34" charset="-120"/>
              </a:rPr>
              <a:t>Our Goal:  </a:t>
            </a:r>
            <a:r>
              <a:rPr lang="en-US" sz="1080" dirty="0">
                <a:solidFill>
                  <a:srgbClr val="FFFFFF"/>
                </a:solidFill>
                <a:latin typeface="Calibri" pitchFamily="34" charset="0"/>
                <a:ea typeface="Calibri" pitchFamily="34" charset="-122"/>
                <a:cs typeface="Calibri" pitchFamily="34" charset="-120"/>
              </a:rPr>
              <a:t>Build a reliable, scalable, software-first landslide forecasting system that saves lives using data already available today.</a:t>
            </a:r>
            <a:endParaRPr lang="en-US" sz="1080" dirty="0"/>
          </a:p>
        </p:txBody>
      </p:sp>
      <p:grpSp>
        <p:nvGrpSpPr>
          <p:cNvPr id="85" name="Group 84">
            <a:extLst>
              <a:ext uri="{FF2B5EF4-FFF2-40B4-BE49-F238E27FC236}">
                <a16:creationId xmlns:a16="http://schemas.microsoft.com/office/drawing/2014/main" id="{9D90631C-3F41-F15B-A5BB-81C606DCDD80}"/>
              </a:ext>
            </a:extLst>
          </p:cNvPr>
          <p:cNvGrpSpPr/>
          <p:nvPr/>
        </p:nvGrpSpPr>
        <p:grpSpPr>
          <a:xfrm>
            <a:off x="207426" y="1600222"/>
            <a:ext cx="5413248" cy="4242793"/>
            <a:chOff x="6144768" y="1700784"/>
            <a:chExt cx="5504688" cy="4215384"/>
          </a:xfrm>
        </p:grpSpPr>
        <p:sp>
          <p:nvSpPr>
            <p:cNvPr id="86" name="Shape 15">
              <a:extLst>
                <a:ext uri="{FF2B5EF4-FFF2-40B4-BE49-F238E27FC236}">
                  <a16:creationId xmlns:a16="http://schemas.microsoft.com/office/drawing/2014/main" id="{4CF493DF-BB81-339F-475F-EE1A18B5B92B}"/>
                </a:ext>
              </a:extLst>
            </p:cNvPr>
            <p:cNvSpPr/>
            <p:nvPr/>
          </p:nvSpPr>
          <p:spPr>
            <a:xfrm>
              <a:off x="6144768" y="1700784"/>
              <a:ext cx="5504688" cy="420624"/>
            </a:xfrm>
            <a:prstGeom prst="roundRect">
              <a:avLst>
                <a:gd name="adj" fmla="val 19565"/>
              </a:avLst>
            </a:prstGeom>
            <a:solidFill>
              <a:srgbClr val="2F6B3A"/>
            </a:solidFill>
            <a:ln/>
          </p:spPr>
        </p:sp>
        <p:sp>
          <p:nvSpPr>
            <p:cNvPr id="87" name="Shape 16">
              <a:extLst>
                <a:ext uri="{FF2B5EF4-FFF2-40B4-BE49-F238E27FC236}">
                  <a16:creationId xmlns:a16="http://schemas.microsoft.com/office/drawing/2014/main" id="{9495D5D3-CA88-42A6-DF1B-359C5037B262}"/>
                </a:ext>
              </a:extLst>
            </p:cNvPr>
            <p:cNvSpPr/>
            <p:nvPr/>
          </p:nvSpPr>
          <p:spPr>
            <a:xfrm>
              <a:off x="6272784" y="1773936"/>
              <a:ext cx="274320" cy="274320"/>
            </a:xfrm>
            <a:prstGeom prst="ellipse">
              <a:avLst/>
            </a:prstGeom>
            <a:solidFill>
              <a:srgbClr val="FFFFFF"/>
            </a:solidFill>
            <a:ln/>
          </p:spPr>
        </p:sp>
        <p:pic>
          <p:nvPicPr>
            <p:cNvPr id="88" name="Image 2" descr="/home/claude/work/build/icons/check_forestMid.png">
              <a:extLst>
                <a:ext uri="{FF2B5EF4-FFF2-40B4-BE49-F238E27FC236}">
                  <a16:creationId xmlns:a16="http://schemas.microsoft.com/office/drawing/2014/main" id="{36523726-4E0D-A2FE-4637-C5901C33222C}"/>
                </a:ext>
              </a:extLst>
            </p:cNvPr>
            <p:cNvPicPr>
              <a:picLocks noChangeAspect="1"/>
            </p:cNvPicPr>
            <p:nvPr/>
          </p:nvPicPr>
          <p:blipFill>
            <a:blip r:embed="rId4"/>
            <a:stretch>
              <a:fillRect/>
            </a:stretch>
          </p:blipFill>
          <p:spPr>
            <a:xfrm>
              <a:off x="6318504" y="1819656"/>
              <a:ext cx="182880" cy="182880"/>
            </a:xfrm>
            <a:prstGeom prst="rect">
              <a:avLst/>
            </a:prstGeom>
          </p:spPr>
        </p:pic>
        <p:sp>
          <p:nvSpPr>
            <p:cNvPr id="89" name="Text 17">
              <a:extLst>
                <a:ext uri="{FF2B5EF4-FFF2-40B4-BE49-F238E27FC236}">
                  <a16:creationId xmlns:a16="http://schemas.microsoft.com/office/drawing/2014/main" id="{040269E2-4EE5-ABD1-9489-83D04F330FD9}"/>
                </a:ext>
              </a:extLst>
            </p:cNvPr>
            <p:cNvSpPr/>
            <p:nvPr/>
          </p:nvSpPr>
          <p:spPr>
            <a:xfrm>
              <a:off x="6647688" y="1700784"/>
              <a:ext cx="4910328" cy="420624"/>
            </a:xfrm>
            <a:prstGeom prst="rect">
              <a:avLst/>
            </a:prstGeom>
            <a:noFill/>
            <a:ln/>
          </p:spPr>
          <p:txBody>
            <a:bodyPr wrap="square" rtlCol="0" anchor="ctr"/>
            <a:lstStyle/>
            <a:p>
              <a:pPr marL="0" indent="0" algn="l">
                <a:buNone/>
              </a:pPr>
              <a:r>
                <a:rPr lang="en-US" b="1" kern="0" spc="50" dirty="0">
                  <a:solidFill>
                    <a:srgbClr val="FFFFFF"/>
                  </a:solidFill>
                  <a:latin typeface="Calibri" pitchFamily="34" charset="0"/>
                  <a:ea typeface="Calibri" pitchFamily="34" charset="-122"/>
                  <a:cs typeface="Calibri" pitchFamily="34" charset="-120"/>
                </a:rPr>
                <a:t>OUR SOLUTION</a:t>
              </a:r>
              <a:endParaRPr lang="en-US" dirty="0"/>
            </a:p>
          </p:txBody>
        </p:sp>
        <p:sp>
          <p:nvSpPr>
            <p:cNvPr id="90" name="Shape 33">
              <a:extLst>
                <a:ext uri="{FF2B5EF4-FFF2-40B4-BE49-F238E27FC236}">
                  <a16:creationId xmlns:a16="http://schemas.microsoft.com/office/drawing/2014/main" id="{4D982865-E9F8-D246-C83A-F0E8461BF707}"/>
                </a:ext>
              </a:extLst>
            </p:cNvPr>
            <p:cNvSpPr/>
            <p:nvPr/>
          </p:nvSpPr>
          <p:spPr>
            <a:xfrm>
              <a:off x="6144768" y="2340864"/>
              <a:ext cx="420624" cy="420624"/>
            </a:xfrm>
            <a:prstGeom prst="ellipse">
              <a:avLst/>
            </a:prstGeom>
            <a:solidFill>
              <a:srgbClr val="2F6B3A"/>
            </a:solidFill>
            <a:ln/>
          </p:spPr>
        </p:sp>
        <p:pic>
          <p:nvPicPr>
            <p:cNvPr id="91" name="Image 7" descr="/home/claude/work/build/icons/satellite_white.png">
              <a:extLst>
                <a:ext uri="{FF2B5EF4-FFF2-40B4-BE49-F238E27FC236}">
                  <a16:creationId xmlns:a16="http://schemas.microsoft.com/office/drawing/2014/main" id="{58312FF9-3107-FC3C-F2D2-6E253DF78541}"/>
                </a:ext>
              </a:extLst>
            </p:cNvPr>
            <p:cNvPicPr>
              <a:picLocks noChangeAspect="1"/>
            </p:cNvPicPr>
            <p:nvPr/>
          </p:nvPicPr>
          <p:blipFill>
            <a:blip r:embed="rId5"/>
            <a:stretch>
              <a:fillRect/>
            </a:stretch>
          </p:blipFill>
          <p:spPr>
            <a:xfrm>
              <a:off x="6236208" y="2432304"/>
              <a:ext cx="237744" cy="237744"/>
            </a:xfrm>
            <a:prstGeom prst="rect">
              <a:avLst/>
            </a:prstGeom>
          </p:spPr>
        </p:pic>
        <p:sp>
          <p:nvSpPr>
            <p:cNvPr id="92" name="Text 34">
              <a:extLst>
                <a:ext uri="{FF2B5EF4-FFF2-40B4-BE49-F238E27FC236}">
                  <a16:creationId xmlns:a16="http://schemas.microsoft.com/office/drawing/2014/main" id="{17B8A3BD-1EDD-06E7-CF58-D962E7D5C32C}"/>
                </a:ext>
              </a:extLst>
            </p:cNvPr>
            <p:cNvSpPr/>
            <p:nvPr/>
          </p:nvSpPr>
          <p:spPr>
            <a:xfrm>
              <a:off x="6711696" y="2304288"/>
              <a:ext cx="4937760" cy="237744"/>
            </a:xfrm>
            <a:prstGeom prst="rect">
              <a:avLst/>
            </a:prstGeom>
            <a:noFill/>
            <a:ln/>
          </p:spPr>
          <p:txBody>
            <a:bodyPr wrap="square" rtlCol="0" anchor="ctr"/>
            <a:lstStyle/>
            <a:p>
              <a:pPr marL="0" indent="0">
                <a:buNone/>
              </a:pPr>
              <a:r>
                <a:rPr lang="en-US" sz="1600" b="1" dirty="0">
                  <a:solidFill>
                    <a:srgbClr val="15291F"/>
                  </a:solidFill>
                  <a:latin typeface="Calibri" pitchFamily="34" charset="0"/>
                  <a:ea typeface="Calibri" pitchFamily="34" charset="-122"/>
                  <a:cs typeface="Calibri" pitchFamily="34" charset="-120"/>
                </a:rPr>
                <a:t>Historical Data Aggregation</a:t>
              </a:r>
              <a:endParaRPr lang="en-US" sz="1600" dirty="0"/>
            </a:p>
          </p:txBody>
        </p:sp>
        <p:sp>
          <p:nvSpPr>
            <p:cNvPr id="93" name="Text 35">
              <a:extLst>
                <a:ext uri="{FF2B5EF4-FFF2-40B4-BE49-F238E27FC236}">
                  <a16:creationId xmlns:a16="http://schemas.microsoft.com/office/drawing/2014/main" id="{C3374FC5-144F-75DF-0759-FD465D47DD37}"/>
                </a:ext>
              </a:extLst>
            </p:cNvPr>
            <p:cNvSpPr/>
            <p:nvPr/>
          </p:nvSpPr>
          <p:spPr>
            <a:xfrm>
              <a:off x="6711696" y="2551176"/>
              <a:ext cx="4937760" cy="601218"/>
            </a:xfrm>
            <a:prstGeom prst="rect">
              <a:avLst/>
            </a:prstGeom>
            <a:noFill/>
            <a:ln/>
          </p:spPr>
          <p:txBody>
            <a:bodyPr wrap="square" rtlCol="0" anchor="t"/>
            <a:lstStyle/>
            <a:p>
              <a:pPr marL="0" indent="0">
                <a:buNone/>
              </a:pPr>
              <a:r>
                <a:rPr lang="en-US" sz="1200" dirty="0">
                  <a:solidFill>
                    <a:srgbClr val="3B4A40"/>
                  </a:solidFill>
                  <a:latin typeface="Calibri" pitchFamily="34" charset="0"/>
                  <a:ea typeface="Calibri" pitchFamily="34" charset="-122"/>
                  <a:cs typeface="Calibri" pitchFamily="34" charset="-120"/>
                </a:rPr>
                <a:t>Consolidates years of rainfall, soil moisture, terrain (DEM/slope) and past landslide records from open archives.</a:t>
              </a:r>
              <a:endParaRPr lang="en-US" sz="1200" dirty="0"/>
            </a:p>
          </p:txBody>
        </p:sp>
        <p:sp>
          <p:nvSpPr>
            <p:cNvPr id="94" name="Shape 36">
              <a:extLst>
                <a:ext uri="{FF2B5EF4-FFF2-40B4-BE49-F238E27FC236}">
                  <a16:creationId xmlns:a16="http://schemas.microsoft.com/office/drawing/2014/main" id="{33F7A81F-F129-1853-E8CC-C40061938103}"/>
                </a:ext>
              </a:extLst>
            </p:cNvPr>
            <p:cNvSpPr/>
            <p:nvPr/>
          </p:nvSpPr>
          <p:spPr>
            <a:xfrm>
              <a:off x="6144768" y="3152394"/>
              <a:ext cx="5504688" cy="0"/>
            </a:xfrm>
            <a:prstGeom prst="line">
              <a:avLst/>
            </a:prstGeom>
            <a:noFill/>
            <a:ln w="12700">
              <a:solidFill>
                <a:srgbClr val="EAF3EC"/>
              </a:solidFill>
              <a:prstDash val="solid"/>
            </a:ln>
          </p:spPr>
        </p:sp>
        <p:sp>
          <p:nvSpPr>
            <p:cNvPr id="95" name="Shape 37">
              <a:extLst>
                <a:ext uri="{FF2B5EF4-FFF2-40B4-BE49-F238E27FC236}">
                  <a16:creationId xmlns:a16="http://schemas.microsoft.com/office/drawing/2014/main" id="{78E4646D-178A-D30F-2748-30C4D585F467}"/>
                </a:ext>
              </a:extLst>
            </p:cNvPr>
            <p:cNvSpPr/>
            <p:nvPr/>
          </p:nvSpPr>
          <p:spPr>
            <a:xfrm>
              <a:off x="6144768" y="3262122"/>
              <a:ext cx="420624" cy="420624"/>
            </a:xfrm>
            <a:prstGeom prst="ellipse">
              <a:avLst/>
            </a:prstGeom>
            <a:solidFill>
              <a:srgbClr val="2F6B3A"/>
            </a:solidFill>
            <a:ln/>
          </p:spPr>
        </p:sp>
        <p:pic>
          <p:nvPicPr>
            <p:cNvPr id="96" name="Image 8" descr="/home/claude/work/build/icons/brain_white.png">
              <a:extLst>
                <a:ext uri="{FF2B5EF4-FFF2-40B4-BE49-F238E27FC236}">
                  <a16:creationId xmlns:a16="http://schemas.microsoft.com/office/drawing/2014/main" id="{715F740D-6815-7108-FA9E-31D822E6058D}"/>
                </a:ext>
              </a:extLst>
            </p:cNvPr>
            <p:cNvPicPr>
              <a:picLocks noChangeAspect="1"/>
            </p:cNvPicPr>
            <p:nvPr/>
          </p:nvPicPr>
          <p:blipFill>
            <a:blip r:embed="rId6"/>
            <a:stretch>
              <a:fillRect/>
            </a:stretch>
          </p:blipFill>
          <p:spPr>
            <a:xfrm>
              <a:off x="6236208" y="3353562"/>
              <a:ext cx="237744" cy="237744"/>
            </a:xfrm>
            <a:prstGeom prst="rect">
              <a:avLst/>
            </a:prstGeom>
          </p:spPr>
        </p:pic>
        <p:sp>
          <p:nvSpPr>
            <p:cNvPr id="97" name="Text 38">
              <a:extLst>
                <a:ext uri="{FF2B5EF4-FFF2-40B4-BE49-F238E27FC236}">
                  <a16:creationId xmlns:a16="http://schemas.microsoft.com/office/drawing/2014/main" id="{B6D8EBE7-1270-A6E2-D30B-CADD22618025}"/>
                </a:ext>
              </a:extLst>
            </p:cNvPr>
            <p:cNvSpPr/>
            <p:nvPr/>
          </p:nvSpPr>
          <p:spPr>
            <a:xfrm>
              <a:off x="6711696" y="3225546"/>
              <a:ext cx="4937760" cy="237744"/>
            </a:xfrm>
            <a:prstGeom prst="rect">
              <a:avLst/>
            </a:prstGeom>
            <a:noFill/>
            <a:ln/>
          </p:spPr>
          <p:txBody>
            <a:bodyPr wrap="square" rtlCol="0" anchor="ctr"/>
            <a:lstStyle/>
            <a:p>
              <a:pPr marL="0" indent="0">
                <a:buNone/>
              </a:pPr>
              <a:r>
                <a:rPr lang="en-US" sz="1600" b="1" dirty="0">
                  <a:solidFill>
                    <a:srgbClr val="15291F"/>
                  </a:solidFill>
                  <a:latin typeface="Calibri" pitchFamily="34" charset="0"/>
                  <a:ea typeface="Calibri" pitchFamily="34" charset="-122"/>
                  <a:cs typeface="Calibri" pitchFamily="34" charset="-120"/>
                </a:rPr>
                <a:t>AI/ML Risk Modelling</a:t>
              </a:r>
              <a:endParaRPr lang="en-US" sz="1600" dirty="0"/>
            </a:p>
          </p:txBody>
        </p:sp>
        <p:sp>
          <p:nvSpPr>
            <p:cNvPr id="98" name="Text 39">
              <a:extLst>
                <a:ext uri="{FF2B5EF4-FFF2-40B4-BE49-F238E27FC236}">
                  <a16:creationId xmlns:a16="http://schemas.microsoft.com/office/drawing/2014/main" id="{4BF0698D-2B71-B595-99D9-7507AD24F2D9}"/>
                </a:ext>
              </a:extLst>
            </p:cNvPr>
            <p:cNvSpPr/>
            <p:nvPr/>
          </p:nvSpPr>
          <p:spPr>
            <a:xfrm>
              <a:off x="6711696" y="3472434"/>
              <a:ext cx="4937760" cy="601218"/>
            </a:xfrm>
            <a:prstGeom prst="rect">
              <a:avLst/>
            </a:prstGeom>
            <a:noFill/>
            <a:ln/>
          </p:spPr>
          <p:txBody>
            <a:bodyPr wrap="square" rtlCol="0" anchor="t"/>
            <a:lstStyle/>
            <a:p>
              <a:pPr marL="0" indent="0">
                <a:buNone/>
              </a:pPr>
              <a:r>
                <a:rPr lang="en-US" sz="1200" dirty="0">
                  <a:solidFill>
                    <a:srgbClr val="3B4A40"/>
                  </a:solidFill>
                  <a:latin typeface="Calibri" pitchFamily="34" charset="0"/>
                  <a:ea typeface="Calibri" pitchFamily="34" charset="-122"/>
                  <a:cs typeface="Calibri" pitchFamily="34" charset="-120"/>
                </a:rPr>
                <a:t>Models trained on this historical data classify each region's risk as Low, Moderate, High or Critical.</a:t>
              </a:r>
              <a:endParaRPr lang="en-US" sz="1200" dirty="0"/>
            </a:p>
          </p:txBody>
        </p:sp>
        <p:sp>
          <p:nvSpPr>
            <p:cNvPr id="99" name="Shape 40">
              <a:extLst>
                <a:ext uri="{FF2B5EF4-FFF2-40B4-BE49-F238E27FC236}">
                  <a16:creationId xmlns:a16="http://schemas.microsoft.com/office/drawing/2014/main" id="{3E32130C-0F8C-5AAB-E20B-DD4BBEA2EA27}"/>
                </a:ext>
              </a:extLst>
            </p:cNvPr>
            <p:cNvSpPr/>
            <p:nvPr/>
          </p:nvSpPr>
          <p:spPr>
            <a:xfrm>
              <a:off x="6144768" y="4073652"/>
              <a:ext cx="5504688" cy="0"/>
            </a:xfrm>
            <a:prstGeom prst="line">
              <a:avLst/>
            </a:prstGeom>
            <a:noFill/>
            <a:ln w="12700">
              <a:solidFill>
                <a:srgbClr val="EAF3EC"/>
              </a:solidFill>
              <a:prstDash val="solid"/>
            </a:ln>
          </p:spPr>
        </p:sp>
        <p:sp>
          <p:nvSpPr>
            <p:cNvPr id="100" name="Shape 41">
              <a:extLst>
                <a:ext uri="{FF2B5EF4-FFF2-40B4-BE49-F238E27FC236}">
                  <a16:creationId xmlns:a16="http://schemas.microsoft.com/office/drawing/2014/main" id="{97DEEF70-3DD3-9441-90B9-1FB90D5C0970}"/>
                </a:ext>
              </a:extLst>
            </p:cNvPr>
            <p:cNvSpPr/>
            <p:nvPr/>
          </p:nvSpPr>
          <p:spPr>
            <a:xfrm>
              <a:off x="6144768" y="4183380"/>
              <a:ext cx="420624" cy="420624"/>
            </a:xfrm>
            <a:prstGeom prst="ellipse">
              <a:avLst/>
            </a:prstGeom>
            <a:solidFill>
              <a:srgbClr val="2F6B3A"/>
            </a:solidFill>
            <a:ln/>
          </p:spPr>
        </p:sp>
        <p:pic>
          <p:nvPicPr>
            <p:cNvPr id="101" name="Image 9" descr="/home/claude/work/build/icons/bell_white.png">
              <a:extLst>
                <a:ext uri="{FF2B5EF4-FFF2-40B4-BE49-F238E27FC236}">
                  <a16:creationId xmlns:a16="http://schemas.microsoft.com/office/drawing/2014/main" id="{851D44F8-C7D7-DBE5-FBE7-8AA6F589EBF1}"/>
                </a:ext>
              </a:extLst>
            </p:cNvPr>
            <p:cNvPicPr>
              <a:picLocks noChangeAspect="1"/>
            </p:cNvPicPr>
            <p:nvPr/>
          </p:nvPicPr>
          <p:blipFill>
            <a:blip r:embed="rId7"/>
            <a:stretch>
              <a:fillRect/>
            </a:stretch>
          </p:blipFill>
          <p:spPr>
            <a:xfrm>
              <a:off x="6236208" y="4274820"/>
              <a:ext cx="237744" cy="237744"/>
            </a:xfrm>
            <a:prstGeom prst="rect">
              <a:avLst/>
            </a:prstGeom>
          </p:spPr>
        </p:pic>
        <p:sp>
          <p:nvSpPr>
            <p:cNvPr id="102" name="Text 42">
              <a:extLst>
                <a:ext uri="{FF2B5EF4-FFF2-40B4-BE49-F238E27FC236}">
                  <a16:creationId xmlns:a16="http://schemas.microsoft.com/office/drawing/2014/main" id="{89C120A2-8753-79E6-5609-B4B06F00FBC9}"/>
                </a:ext>
              </a:extLst>
            </p:cNvPr>
            <p:cNvSpPr/>
            <p:nvPr/>
          </p:nvSpPr>
          <p:spPr>
            <a:xfrm>
              <a:off x="6711696" y="4146804"/>
              <a:ext cx="4937760" cy="237744"/>
            </a:xfrm>
            <a:prstGeom prst="rect">
              <a:avLst/>
            </a:prstGeom>
            <a:noFill/>
            <a:ln/>
          </p:spPr>
          <p:txBody>
            <a:bodyPr wrap="square" rtlCol="0" anchor="ctr"/>
            <a:lstStyle/>
            <a:p>
              <a:pPr marL="0" indent="0">
                <a:buNone/>
              </a:pPr>
              <a:r>
                <a:rPr lang="en-US" sz="1600" b="1" dirty="0">
                  <a:solidFill>
                    <a:srgbClr val="15291F"/>
                  </a:solidFill>
                  <a:latin typeface="Calibri" pitchFamily="34" charset="0"/>
                  <a:ea typeface="Calibri" pitchFamily="34" charset="-122"/>
                  <a:cs typeface="Calibri" pitchFamily="34" charset="-120"/>
                </a:rPr>
                <a:t>Automated Early Warnings</a:t>
              </a:r>
              <a:endParaRPr lang="en-US" sz="1600" dirty="0"/>
            </a:p>
          </p:txBody>
        </p:sp>
        <p:sp>
          <p:nvSpPr>
            <p:cNvPr id="103" name="Text 43">
              <a:extLst>
                <a:ext uri="{FF2B5EF4-FFF2-40B4-BE49-F238E27FC236}">
                  <a16:creationId xmlns:a16="http://schemas.microsoft.com/office/drawing/2014/main" id="{57BC4EA2-A200-9CE1-A25B-3389F448675F}"/>
                </a:ext>
              </a:extLst>
            </p:cNvPr>
            <p:cNvSpPr/>
            <p:nvPr/>
          </p:nvSpPr>
          <p:spPr>
            <a:xfrm>
              <a:off x="6711696" y="4393692"/>
              <a:ext cx="4937760" cy="601218"/>
            </a:xfrm>
            <a:prstGeom prst="rect">
              <a:avLst/>
            </a:prstGeom>
            <a:noFill/>
            <a:ln/>
          </p:spPr>
          <p:txBody>
            <a:bodyPr wrap="square" rtlCol="0" anchor="t"/>
            <a:lstStyle/>
            <a:p>
              <a:pPr marL="0" indent="0">
                <a:buNone/>
              </a:pPr>
              <a:r>
                <a:rPr lang="en-US" sz="1200" dirty="0">
                  <a:solidFill>
                    <a:srgbClr val="3B4A40"/>
                  </a:solidFill>
                  <a:latin typeface="Calibri" pitchFamily="34" charset="0"/>
                  <a:ea typeface="Calibri" pitchFamily="34" charset="-122"/>
                  <a:cs typeface="Calibri" pitchFamily="34" charset="-120"/>
                </a:rPr>
                <a:t>Instant SMS, email and web alerts to authorities and communities the moment risk crosses a threshold.</a:t>
              </a:r>
              <a:endParaRPr lang="en-US" sz="1200" dirty="0"/>
            </a:p>
          </p:txBody>
        </p:sp>
        <p:sp>
          <p:nvSpPr>
            <p:cNvPr id="104" name="Shape 44">
              <a:extLst>
                <a:ext uri="{FF2B5EF4-FFF2-40B4-BE49-F238E27FC236}">
                  <a16:creationId xmlns:a16="http://schemas.microsoft.com/office/drawing/2014/main" id="{CA50D3A1-1ED3-E00C-E631-4E24CEEB29CC}"/>
                </a:ext>
              </a:extLst>
            </p:cNvPr>
            <p:cNvSpPr/>
            <p:nvPr/>
          </p:nvSpPr>
          <p:spPr>
            <a:xfrm>
              <a:off x="6144768" y="4994910"/>
              <a:ext cx="5504688" cy="0"/>
            </a:xfrm>
            <a:prstGeom prst="line">
              <a:avLst/>
            </a:prstGeom>
            <a:noFill/>
            <a:ln w="12700">
              <a:solidFill>
                <a:srgbClr val="EAF3EC"/>
              </a:solidFill>
              <a:prstDash val="solid"/>
            </a:ln>
          </p:spPr>
        </p:sp>
        <p:sp>
          <p:nvSpPr>
            <p:cNvPr id="105" name="Shape 45">
              <a:extLst>
                <a:ext uri="{FF2B5EF4-FFF2-40B4-BE49-F238E27FC236}">
                  <a16:creationId xmlns:a16="http://schemas.microsoft.com/office/drawing/2014/main" id="{243A6079-1ED5-0880-83D4-F654252094A8}"/>
                </a:ext>
              </a:extLst>
            </p:cNvPr>
            <p:cNvSpPr/>
            <p:nvPr/>
          </p:nvSpPr>
          <p:spPr>
            <a:xfrm>
              <a:off x="6144768" y="5104638"/>
              <a:ext cx="420624" cy="420624"/>
            </a:xfrm>
            <a:prstGeom prst="ellipse">
              <a:avLst/>
            </a:prstGeom>
            <a:solidFill>
              <a:srgbClr val="2F6B3A"/>
            </a:solidFill>
            <a:ln/>
          </p:spPr>
        </p:sp>
        <p:pic>
          <p:nvPicPr>
            <p:cNvPr id="106" name="Image 10" descr="/home/claude/work/build/icons/mappin_white.png">
              <a:extLst>
                <a:ext uri="{FF2B5EF4-FFF2-40B4-BE49-F238E27FC236}">
                  <a16:creationId xmlns:a16="http://schemas.microsoft.com/office/drawing/2014/main" id="{F3B79838-82DE-0DF8-4F07-43F13E65BF53}"/>
                </a:ext>
              </a:extLst>
            </p:cNvPr>
            <p:cNvPicPr>
              <a:picLocks noChangeAspect="1"/>
            </p:cNvPicPr>
            <p:nvPr/>
          </p:nvPicPr>
          <p:blipFill>
            <a:blip r:embed="rId8"/>
            <a:stretch>
              <a:fillRect/>
            </a:stretch>
          </p:blipFill>
          <p:spPr>
            <a:xfrm>
              <a:off x="6236208" y="5196078"/>
              <a:ext cx="237744" cy="237744"/>
            </a:xfrm>
            <a:prstGeom prst="rect">
              <a:avLst/>
            </a:prstGeom>
          </p:spPr>
        </p:pic>
        <p:sp>
          <p:nvSpPr>
            <p:cNvPr id="107" name="Text 46">
              <a:extLst>
                <a:ext uri="{FF2B5EF4-FFF2-40B4-BE49-F238E27FC236}">
                  <a16:creationId xmlns:a16="http://schemas.microsoft.com/office/drawing/2014/main" id="{7E0CAAE9-AEA1-8C10-B8E4-EBDD8298EE5A}"/>
                </a:ext>
              </a:extLst>
            </p:cNvPr>
            <p:cNvSpPr/>
            <p:nvPr/>
          </p:nvSpPr>
          <p:spPr>
            <a:xfrm>
              <a:off x="6711696" y="5068062"/>
              <a:ext cx="4937760" cy="237744"/>
            </a:xfrm>
            <a:prstGeom prst="rect">
              <a:avLst/>
            </a:prstGeom>
            <a:noFill/>
            <a:ln/>
          </p:spPr>
          <p:txBody>
            <a:bodyPr wrap="square" rtlCol="0" anchor="ctr"/>
            <a:lstStyle/>
            <a:p>
              <a:pPr marL="0" indent="0">
                <a:buNone/>
              </a:pPr>
              <a:r>
                <a:rPr lang="en-US" sz="1600" b="1" dirty="0">
                  <a:solidFill>
                    <a:srgbClr val="15291F"/>
                  </a:solidFill>
                  <a:latin typeface="Calibri" pitchFamily="34" charset="0"/>
                  <a:ea typeface="Calibri" pitchFamily="34" charset="-122"/>
                  <a:cs typeface="Calibri" pitchFamily="34" charset="-120"/>
                </a:rPr>
                <a:t>Interactive Risk Dashboard</a:t>
              </a:r>
              <a:endParaRPr lang="en-US" sz="1600" dirty="0"/>
            </a:p>
          </p:txBody>
        </p:sp>
        <p:sp>
          <p:nvSpPr>
            <p:cNvPr id="108" name="Text 47">
              <a:extLst>
                <a:ext uri="{FF2B5EF4-FFF2-40B4-BE49-F238E27FC236}">
                  <a16:creationId xmlns:a16="http://schemas.microsoft.com/office/drawing/2014/main" id="{17AD08DD-47FF-7EFF-AC1F-CBCCFF3C9F31}"/>
                </a:ext>
              </a:extLst>
            </p:cNvPr>
            <p:cNvSpPr/>
            <p:nvPr/>
          </p:nvSpPr>
          <p:spPr>
            <a:xfrm>
              <a:off x="6711696" y="5314950"/>
              <a:ext cx="4937760" cy="601218"/>
            </a:xfrm>
            <a:prstGeom prst="rect">
              <a:avLst/>
            </a:prstGeom>
            <a:noFill/>
            <a:ln/>
          </p:spPr>
          <p:txBody>
            <a:bodyPr wrap="square" rtlCol="0" anchor="t"/>
            <a:lstStyle/>
            <a:p>
              <a:pPr marL="0" indent="0">
                <a:buNone/>
              </a:pPr>
              <a:r>
                <a:rPr lang="en-US" sz="1200" dirty="0">
                  <a:solidFill>
                    <a:srgbClr val="3B4A40"/>
                  </a:solidFill>
                  <a:latin typeface="Calibri" pitchFamily="34" charset="0"/>
                  <a:ea typeface="Calibri" pitchFamily="34" charset="-122"/>
                  <a:cs typeface="Calibri" pitchFamily="34" charset="-120"/>
                </a:rPr>
                <a:t>Web-based GIS map of risk zones, trends and safe routes — accessible anywhere, no hardware required.</a:t>
              </a:r>
              <a:endParaRPr lang="en-US" sz="1200" dirty="0"/>
            </a:p>
          </p:txBody>
        </p:sp>
      </p:grpSp>
      <p:pic>
        <p:nvPicPr>
          <p:cNvPr id="110" name="Picture 109">
            <a:extLst>
              <a:ext uri="{FF2B5EF4-FFF2-40B4-BE49-F238E27FC236}">
                <a16:creationId xmlns:a16="http://schemas.microsoft.com/office/drawing/2014/main" id="{FA747205-DE5E-5B6A-C77B-368B4B7A8C81}"/>
              </a:ext>
            </a:extLst>
          </p:cNvPr>
          <p:cNvPicPr>
            <a:picLocks noChangeAspect="1"/>
          </p:cNvPicPr>
          <p:nvPr/>
        </p:nvPicPr>
        <p:blipFill>
          <a:blip r:embed="rId9"/>
          <a:srcRect b="5053"/>
          <a:stretch>
            <a:fillRect/>
          </a:stretch>
        </p:blipFill>
        <p:spPr>
          <a:xfrm>
            <a:off x="5710595" y="1079602"/>
            <a:ext cx="6364223" cy="5016093"/>
          </a:xfrm>
          <a:prstGeom prst="rect">
            <a:avLst/>
          </a:prstGeom>
        </p:spPr>
      </p:pic>
      <p:grpSp>
        <p:nvGrpSpPr>
          <p:cNvPr id="111" name="Group 110">
            <a:extLst>
              <a:ext uri="{FF2B5EF4-FFF2-40B4-BE49-F238E27FC236}">
                <a16:creationId xmlns:a16="http://schemas.microsoft.com/office/drawing/2014/main" id="{E0E2FD7B-0FA6-6E47-B6F7-1E4963CD01A8}"/>
              </a:ext>
            </a:extLst>
          </p:cNvPr>
          <p:cNvGrpSpPr/>
          <p:nvPr/>
        </p:nvGrpSpPr>
        <p:grpSpPr>
          <a:xfrm>
            <a:off x="3296412" y="826922"/>
            <a:ext cx="5001768" cy="64008"/>
            <a:chOff x="502920" y="3332988"/>
            <a:chExt cx="5001768" cy="64008"/>
          </a:xfrm>
        </p:grpSpPr>
        <p:sp>
          <p:nvSpPr>
            <p:cNvPr id="112" name="Shape 10">
              <a:extLst>
                <a:ext uri="{FF2B5EF4-FFF2-40B4-BE49-F238E27FC236}">
                  <a16:creationId xmlns:a16="http://schemas.microsoft.com/office/drawing/2014/main" id="{618D8217-7593-7496-C8DA-E2E4D6DDA228}"/>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113" name="Shape 11">
              <a:extLst>
                <a:ext uri="{FF2B5EF4-FFF2-40B4-BE49-F238E27FC236}">
                  <a16:creationId xmlns:a16="http://schemas.microsoft.com/office/drawing/2014/main" id="{80561C1E-664E-06F4-FDC2-A5DC7E949B21}"/>
                </a:ext>
              </a:extLst>
            </p:cNvPr>
            <p:cNvSpPr/>
            <p:nvPr/>
          </p:nvSpPr>
          <p:spPr>
            <a:xfrm>
              <a:off x="2971800" y="3332988"/>
              <a:ext cx="64008" cy="64008"/>
            </a:xfrm>
            <a:prstGeom prst="ellipse">
              <a:avLst/>
            </a:prstGeom>
            <a:solidFill>
              <a:srgbClr val="2F6B3A"/>
            </a:solidFill>
            <a:ln/>
          </p:spPr>
        </p:sp>
        <p:sp>
          <p:nvSpPr>
            <p:cNvPr id="114" name="Shape 12">
              <a:extLst>
                <a:ext uri="{FF2B5EF4-FFF2-40B4-BE49-F238E27FC236}">
                  <a16:creationId xmlns:a16="http://schemas.microsoft.com/office/drawing/2014/main" id="{27C6A32D-4BE6-C9F0-82C1-131DA01CD867}"/>
                </a:ext>
              </a:extLst>
            </p:cNvPr>
            <p:cNvSpPr/>
            <p:nvPr/>
          </p:nvSpPr>
          <p:spPr>
            <a:xfrm>
              <a:off x="3127248" y="3364992"/>
              <a:ext cx="2377440" cy="0"/>
            </a:xfrm>
            <a:prstGeom prst="line">
              <a:avLst/>
            </a:prstGeom>
            <a:noFill/>
            <a:ln w="19050">
              <a:solidFill>
                <a:srgbClr val="2F6B3A"/>
              </a:solidFill>
              <a:prstDash val="solid"/>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384048" y="292608"/>
            <a:ext cx="365760" cy="365760"/>
          </a:xfrm>
          <a:prstGeom prst="ellipse">
            <a:avLst/>
          </a:prstGeom>
          <a:solidFill>
            <a:srgbClr val="1B4332"/>
          </a:solidFill>
          <a:ln/>
        </p:spPr>
      </p:sp>
      <p:pic>
        <p:nvPicPr>
          <p:cNvPr id="4" name="Image 0" descr="/home/claude/work/build/icons/leaf_white.png"/>
          <p:cNvPicPr>
            <a:picLocks noChangeAspect="1"/>
          </p:cNvPicPr>
          <p:nvPr/>
        </p:nvPicPr>
        <p:blipFill>
          <a:blip r:embed="rId3"/>
          <a:stretch>
            <a:fillRect/>
          </a:stretch>
        </p:blipFill>
        <p:spPr>
          <a:xfrm>
            <a:off x="466344" y="374904"/>
            <a:ext cx="201168" cy="201168"/>
          </a:xfrm>
          <a:prstGeom prst="rect">
            <a:avLst/>
          </a:prstGeom>
        </p:spPr>
      </p:pic>
      <p:sp>
        <p:nvSpPr>
          <p:cNvPr id="5" name="Text 2"/>
          <p:cNvSpPr/>
          <p:nvPr/>
        </p:nvSpPr>
        <p:spPr>
          <a:xfrm>
            <a:off x="841248" y="274320"/>
            <a:ext cx="2011680" cy="219456"/>
          </a:xfrm>
          <a:prstGeom prst="rect">
            <a:avLst/>
          </a:prstGeom>
          <a:noFill/>
          <a:ln/>
        </p:spPr>
        <p:txBody>
          <a:bodyPr wrap="square" rtlCol="0" anchor="ctr"/>
          <a:lstStyle/>
          <a:p>
            <a:pPr marL="0" indent="0">
              <a:buNone/>
            </a:pPr>
            <a:r>
              <a:rPr lang="en-US" sz="1250" b="1" kern="0" spc="50" dirty="0">
                <a:solidFill>
                  <a:srgbClr val="1B4332"/>
                </a:solidFill>
                <a:latin typeface="Calibri" pitchFamily="34" charset="0"/>
                <a:ea typeface="Calibri" pitchFamily="34" charset="-122"/>
                <a:cs typeface="Calibri" pitchFamily="34" charset="-120"/>
              </a:rPr>
              <a:t>TEAM SANJIVANI</a:t>
            </a:r>
            <a:endParaRPr lang="en-US" sz="1250" dirty="0"/>
          </a:p>
        </p:txBody>
      </p:sp>
      <p:sp>
        <p:nvSpPr>
          <p:cNvPr id="6" name="Text 3"/>
          <p:cNvSpPr/>
          <p:nvPr/>
        </p:nvSpPr>
        <p:spPr>
          <a:xfrm>
            <a:off x="841248" y="484632"/>
            <a:ext cx="2011680" cy="182880"/>
          </a:xfrm>
          <a:prstGeom prst="rect">
            <a:avLst/>
          </a:prstGeom>
          <a:noFill/>
          <a:ln/>
        </p:spPr>
        <p:txBody>
          <a:bodyPr wrap="square" rtlCol="0" anchor="ctr"/>
          <a:lstStyle/>
          <a:p>
            <a:pPr marL="0" indent="0">
              <a:buNone/>
            </a:pPr>
            <a:r>
              <a:rPr lang="en-US" sz="850" i="1" dirty="0">
                <a:solidFill>
                  <a:srgbClr val="52796F"/>
                </a:solidFill>
                <a:latin typeface="Calibri" pitchFamily="34" charset="0"/>
                <a:ea typeface="Calibri" pitchFamily="34" charset="-122"/>
                <a:cs typeface="Calibri" pitchFamily="34" charset="-120"/>
              </a:rPr>
              <a:t>Team</a:t>
            </a:r>
            <a:endParaRPr lang="en-US" sz="850" dirty="0"/>
          </a:p>
        </p:txBody>
      </p:sp>
      <p:sp>
        <p:nvSpPr>
          <p:cNvPr id="7" name="Text 4"/>
          <p:cNvSpPr/>
          <p:nvPr/>
        </p:nvSpPr>
        <p:spPr>
          <a:xfrm>
            <a:off x="2743200" y="259080"/>
            <a:ext cx="6702552" cy="384048"/>
          </a:xfrm>
          <a:prstGeom prst="rect">
            <a:avLst/>
          </a:prstGeom>
          <a:noFill/>
          <a:ln/>
        </p:spPr>
        <p:txBody>
          <a:bodyPr wrap="square" rtlCol="0" anchor="ctr"/>
          <a:lstStyle/>
          <a:p>
            <a:pPr marL="0" indent="0" algn="ctr">
              <a:buNone/>
            </a:pPr>
            <a:r>
              <a:rPr lang="en-US" sz="2400" b="1" kern="0" spc="50" dirty="0">
                <a:solidFill>
                  <a:srgbClr val="1B4332"/>
                </a:solidFill>
                <a:latin typeface="Cambria" pitchFamily="34" charset="0"/>
                <a:ea typeface="Cambria" pitchFamily="34" charset="-122"/>
                <a:cs typeface="Cambria" pitchFamily="34" charset="-120"/>
              </a:rPr>
              <a:t>TECHNICAL APPROACH</a:t>
            </a:r>
            <a:endParaRPr lang="en-US" sz="2400" dirty="0"/>
          </a:p>
        </p:txBody>
      </p:sp>
      <p:sp>
        <p:nvSpPr>
          <p:cNvPr id="14" name="Text 11"/>
          <p:cNvSpPr/>
          <p:nvPr/>
        </p:nvSpPr>
        <p:spPr>
          <a:xfrm>
            <a:off x="384048" y="1188720"/>
            <a:ext cx="5623560" cy="274320"/>
          </a:xfrm>
          <a:prstGeom prst="rect">
            <a:avLst/>
          </a:prstGeom>
          <a:noFill/>
          <a:ln/>
        </p:spPr>
        <p:txBody>
          <a:bodyPr wrap="square" rtlCol="0" anchor="ctr"/>
          <a:lstStyle/>
          <a:p>
            <a:pPr marL="0" indent="0">
              <a:buNone/>
            </a:pPr>
            <a:r>
              <a:rPr lang="en-US" sz="1600" b="1" kern="0" spc="100" dirty="0">
                <a:solidFill>
                  <a:srgbClr val="1B4332"/>
                </a:solidFill>
                <a:latin typeface="Calibri" pitchFamily="34" charset="0"/>
                <a:ea typeface="Calibri" pitchFamily="34" charset="-122"/>
                <a:cs typeface="Calibri" pitchFamily="34" charset="-120"/>
              </a:rPr>
              <a:t>TECHNOLOGY STACK</a:t>
            </a:r>
            <a:endParaRPr lang="en-US" sz="1600" dirty="0"/>
          </a:p>
        </p:txBody>
      </p:sp>
      <p:sp>
        <p:nvSpPr>
          <p:cNvPr id="55" name="Text 44"/>
          <p:cNvSpPr/>
          <p:nvPr/>
        </p:nvSpPr>
        <p:spPr>
          <a:xfrm>
            <a:off x="6281928" y="1188720"/>
            <a:ext cx="5349240" cy="274320"/>
          </a:xfrm>
          <a:prstGeom prst="rect">
            <a:avLst/>
          </a:prstGeom>
          <a:noFill/>
          <a:ln/>
        </p:spPr>
        <p:txBody>
          <a:bodyPr wrap="square" rtlCol="0" anchor="ctr"/>
          <a:lstStyle/>
          <a:p>
            <a:pPr marL="0" indent="0">
              <a:buNone/>
            </a:pPr>
            <a:r>
              <a:rPr lang="en-US" b="1" kern="0" spc="100" dirty="0">
                <a:solidFill>
                  <a:srgbClr val="1B4332"/>
                </a:solidFill>
                <a:latin typeface="Calibri" pitchFamily="34" charset="0"/>
                <a:ea typeface="Calibri" pitchFamily="34" charset="-122"/>
                <a:cs typeface="Calibri" pitchFamily="34" charset="-120"/>
              </a:rPr>
              <a:t>HOW IT WORKS — PROCESS FLOW</a:t>
            </a:r>
            <a:endParaRPr lang="en-US" dirty="0"/>
          </a:p>
        </p:txBody>
      </p:sp>
      <p:sp>
        <p:nvSpPr>
          <p:cNvPr id="56" name="Shape 45"/>
          <p:cNvSpPr/>
          <p:nvPr/>
        </p:nvSpPr>
        <p:spPr>
          <a:xfrm>
            <a:off x="6281928" y="1517904"/>
            <a:ext cx="5349240" cy="646176"/>
          </a:xfrm>
          <a:prstGeom prst="roundRect">
            <a:avLst>
              <a:gd name="adj" fmla="val 8491"/>
            </a:avLst>
          </a:prstGeom>
          <a:solidFill>
            <a:srgbClr val="1B4332"/>
          </a:solidFill>
          <a:ln/>
        </p:spPr>
      </p:sp>
      <p:sp>
        <p:nvSpPr>
          <p:cNvPr id="57" name="Shape 46"/>
          <p:cNvSpPr/>
          <p:nvPr/>
        </p:nvSpPr>
        <p:spPr>
          <a:xfrm>
            <a:off x="6391656" y="1685544"/>
            <a:ext cx="310896" cy="310896"/>
          </a:xfrm>
          <a:prstGeom prst="ellipse">
            <a:avLst/>
          </a:prstGeom>
          <a:solidFill>
            <a:srgbClr val="FFFFFF"/>
          </a:solidFill>
          <a:ln/>
        </p:spPr>
      </p:sp>
      <p:pic>
        <p:nvPicPr>
          <p:cNvPr id="58" name="Image 9" descr="/home/claude/work/build/icons/server_forest.png"/>
          <p:cNvPicPr>
            <a:picLocks noChangeAspect="1"/>
          </p:cNvPicPr>
          <p:nvPr/>
        </p:nvPicPr>
        <p:blipFill>
          <a:blip r:embed="rId4"/>
          <a:stretch>
            <a:fillRect/>
          </a:stretch>
        </p:blipFill>
        <p:spPr>
          <a:xfrm>
            <a:off x="6446520" y="1740408"/>
            <a:ext cx="201168" cy="201168"/>
          </a:xfrm>
          <a:prstGeom prst="rect">
            <a:avLst/>
          </a:prstGeom>
        </p:spPr>
      </p:pic>
      <p:sp>
        <p:nvSpPr>
          <p:cNvPr id="59" name="Text 47"/>
          <p:cNvSpPr/>
          <p:nvPr/>
        </p:nvSpPr>
        <p:spPr>
          <a:xfrm>
            <a:off x="6812280" y="1572768"/>
            <a:ext cx="4690872" cy="23774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Historical Data Collection</a:t>
            </a:r>
            <a:endParaRPr lang="en-US" sz="1400" dirty="0"/>
          </a:p>
        </p:txBody>
      </p:sp>
      <p:sp>
        <p:nvSpPr>
          <p:cNvPr id="60" name="Text 48"/>
          <p:cNvSpPr/>
          <p:nvPr/>
        </p:nvSpPr>
        <p:spPr>
          <a:xfrm>
            <a:off x="6812280" y="1810512"/>
            <a:ext cx="4690872" cy="316992"/>
          </a:xfrm>
          <a:prstGeom prst="rect">
            <a:avLst/>
          </a:prstGeom>
          <a:noFill/>
          <a:ln/>
        </p:spPr>
        <p:txBody>
          <a:bodyPr wrap="square" rtlCol="0" anchor="t"/>
          <a:lstStyle/>
          <a:p>
            <a:pPr marL="0" indent="0">
              <a:buNone/>
            </a:pPr>
            <a:r>
              <a:rPr lang="en-US" sz="1050" dirty="0">
                <a:solidFill>
                  <a:srgbClr val="D9E6DC"/>
                </a:solidFill>
                <a:latin typeface="Calibri" pitchFamily="34" charset="0"/>
                <a:ea typeface="Calibri" pitchFamily="34" charset="-122"/>
                <a:cs typeface="Calibri" pitchFamily="34" charset="-120"/>
              </a:rPr>
              <a:t>Rainfall, soil moisture, terrain and past landslide records from open archives</a:t>
            </a:r>
            <a:endParaRPr lang="en-US" sz="1050" dirty="0"/>
          </a:p>
        </p:txBody>
      </p:sp>
      <p:pic>
        <p:nvPicPr>
          <p:cNvPr id="61" name="Image 10" descr="/home/claude/work/build/icons/arrowdown_forest.png"/>
          <p:cNvPicPr>
            <a:picLocks noChangeAspect="1"/>
          </p:cNvPicPr>
          <p:nvPr/>
        </p:nvPicPr>
        <p:blipFill>
          <a:blip r:embed="rId5"/>
          <a:stretch>
            <a:fillRect/>
          </a:stretch>
        </p:blipFill>
        <p:spPr>
          <a:xfrm>
            <a:off x="11320272" y="2145792"/>
            <a:ext cx="146304" cy="146304"/>
          </a:xfrm>
          <a:prstGeom prst="rect">
            <a:avLst/>
          </a:prstGeom>
        </p:spPr>
      </p:pic>
      <p:sp>
        <p:nvSpPr>
          <p:cNvPr id="62" name="Shape 49"/>
          <p:cNvSpPr/>
          <p:nvPr/>
        </p:nvSpPr>
        <p:spPr>
          <a:xfrm>
            <a:off x="6281928" y="2273808"/>
            <a:ext cx="5349240" cy="646176"/>
          </a:xfrm>
          <a:prstGeom prst="roundRect">
            <a:avLst>
              <a:gd name="adj" fmla="val 8491"/>
            </a:avLst>
          </a:prstGeom>
          <a:solidFill>
            <a:srgbClr val="1B4332"/>
          </a:solidFill>
          <a:ln/>
        </p:spPr>
      </p:sp>
      <p:sp>
        <p:nvSpPr>
          <p:cNvPr id="63" name="Shape 50"/>
          <p:cNvSpPr/>
          <p:nvPr/>
        </p:nvSpPr>
        <p:spPr>
          <a:xfrm>
            <a:off x="6391656" y="2441448"/>
            <a:ext cx="310896" cy="310896"/>
          </a:xfrm>
          <a:prstGeom prst="ellipse">
            <a:avLst/>
          </a:prstGeom>
          <a:solidFill>
            <a:srgbClr val="FFFFFF"/>
          </a:solidFill>
          <a:ln/>
        </p:spPr>
      </p:sp>
      <p:pic>
        <p:nvPicPr>
          <p:cNvPr id="64" name="Image 11" descr="/home/claude/work/build/icons/filter_forest.png"/>
          <p:cNvPicPr>
            <a:picLocks noChangeAspect="1"/>
          </p:cNvPicPr>
          <p:nvPr/>
        </p:nvPicPr>
        <p:blipFill>
          <a:blip r:embed="rId6"/>
          <a:stretch>
            <a:fillRect/>
          </a:stretch>
        </p:blipFill>
        <p:spPr>
          <a:xfrm>
            <a:off x="6446520" y="2496312"/>
            <a:ext cx="201168" cy="201168"/>
          </a:xfrm>
          <a:prstGeom prst="rect">
            <a:avLst/>
          </a:prstGeom>
        </p:spPr>
      </p:pic>
      <p:sp>
        <p:nvSpPr>
          <p:cNvPr id="65" name="Text 51"/>
          <p:cNvSpPr/>
          <p:nvPr/>
        </p:nvSpPr>
        <p:spPr>
          <a:xfrm>
            <a:off x="6812280" y="2328672"/>
            <a:ext cx="4690872" cy="23774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Preprocessing &amp; Feature Engineering</a:t>
            </a:r>
            <a:endParaRPr lang="en-US" sz="1400" dirty="0"/>
          </a:p>
        </p:txBody>
      </p:sp>
      <p:sp>
        <p:nvSpPr>
          <p:cNvPr id="66" name="Text 52"/>
          <p:cNvSpPr/>
          <p:nvPr/>
        </p:nvSpPr>
        <p:spPr>
          <a:xfrm>
            <a:off x="6812280" y="2566416"/>
            <a:ext cx="4690872" cy="316992"/>
          </a:xfrm>
          <a:prstGeom prst="rect">
            <a:avLst/>
          </a:prstGeom>
          <a:noFill/>
          <a:ln/>
        </p:spPr>
        <p:txBody>
          <a:bodyPr wrap="square" rtlCol="0" anchor="t"/>
          <a:lstStyle/>
          <a:p>
            <a:pPr marL="0" indent="0">
              <a:buNone/>
            </a:pPr>
            <a:r>
              <a:rPr lang="en-US" sz="1050" dirty="0">
                <a:solidFill>
                  <a:srgbClr val="D9E6DC"/>
                </a:solidFill>
                <a:latin typeface="Calibri" pitchFamily="34" charset="0"/>
                <a:ea typeface="Calibri" pitchFamily="34" charset="-122"/>
                <a:cs typeface="Calibri" pitchFamily="34" charset="-120"/>
              </a:rPr>
              <a:t>Cleaning, alignment and derivation of rainfall, slope and saturation features</a:t>
            </a:r>
            <a:endParaRPr lang="en-US" sz="1050" dirty="0"/>
          </a:p>
        </p:txBody>
      </p:sp>
      <p:pic>
        <p:nvPicPr>
          <p:cNvPr id="67" name="Image 12" descr="/home/claude/work/build/icons/arrowdown_forest.png"/>
          <p:cNvPicPr>
            <a:picLocks noChangeAspect="1"/>
          </p:cNvPicPr>
          <p:nvPr/>
        </p:nvPicPr>
        <p:blipFill>
          <a:blip r:embed="rId5"/>
          <a:stretch>
            <a:fillRect/>
          </a:stretch>
        </p:blipFill>
        <p:spPr>
          <a:xfrm>
            <a:off x="11320272" y="2901696"/>
            <a:ext cx="146304" cy="146304"/>
          </a:xfrm>
          <a:prstGeom prst="rect">
            <a:avLst/>
          </a:prstGeom>
        </p:spPr>
      </p:pic>
      <p:sp>
        <p:nvSpPr>
          <p:cNvPr id="68" name="Shape 53"/>
          <p:cNvSpPr/>
          <p:nvPr/>
        </p:nvSpPr>
        <p:spPr>
          <a:xfrm>
            <a:off x="6281928" y="3029712"/>
            <a:ext cx="5349240" cy="646176"/>
          </a:xfrm>
          <a:prstGeom prst="roundRect">
            <a:avLst>
              <a:gd name="adj" fmla="val 8491"/>
            </a:avLst>
          </a:prstGeom>
          <a:solidFill>
            <a:srgbClr val="1B4332"/>
          </a:solidFill>
          <a:ln/>
        </p:spPr>
      </p:sp>
      <p:sp>
        <p:nvSpPr>
          <p:cNvPr id="69" name="Shape 54"/>
          <p:cNvSpPr/>
          <p:nvPr/>
        </p:nvSpPr>
        <p:spPr>
          <a:xfrm>
            <a:off x="6391656" y="3197352"/>
            <a:ext cx="310896" cy="310896"/>
          </a:xfrm>
          <a:prstGeom prst="ellipse">
            <a:avLst/>
          </a:prstGeom>
          <a:solidFill>
            <a:srgbClr val="FFFFFF"/>
          </a:solidFill>
          <a:ln/>
        </p:spPr>
      </p:sp>
      <p:pic>
        <p:nvPicPr>
          <p:cNvPr id="70" name="Image 13" descr="/home/claude/work/build/icons/brain_forest.png"/>
          <p:cNvPicPr>
            <a:picLocks noChangeAspect="1"/>
          </p:cNvPicPr>
          <p:nvPr/>
        </p:nvPicPr>
        <p:blipFill>
          <a:blip r:embed="rId7"/>
          <a:stretch>
            <a:fillRect/>
          </a:stretch>
        </p:blipFill>
        <p:spPr>
          <a:xfrm>
            <a:off x="6446520" y="3252216"/>
            <a:ext cx="201168" cy="201168"/>
          </a:xfrm>
          <a:prstGeom prst="rect">
            <a:avLst/>
          </a:prstGeom>
        </p:spPr>
      </p:pic>
      <p:sp>
        <p:nvSpPr>
          <p:cNvPr id="71" name="Text 55"/>
          <p:cNvSpPr/>
          <p:nvPr/>
        </p:nvSpPr>
        <p:spPr>
          <a:xfrm>
            <a:off x="6812280" y="3084576"/>
            <a:ext cx="4690872" cy="23774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AI/ML Model Training</a:t>
            </a:r>
            <a:endParaRPr lang="en-US" sz="1400" dirty="0"/>
          </a:p>
        </p:txBody>
      </p:sp>
      <p:sp>
        <p:nvSpPr>
          <p:cNvPr id="72" name="Text 56"/>
          <p:cNvSpPr/>
          <p:nvPr/>
        </p:nvSpPr>
        <p:spPr>
          <a:xfrm>
            <a:off x="6812280" y="3322320"/>
            <a:ext cx="4690872" cy="316992"/>
          </a:xfrm>
          <a:prstGeom prst="rect">
            <a:avLst/>
          </a:prstGeom>
          <a:noFill/>
          <a:ln/>
        </p:spPr>
        <p:txBody>
          <a:bodyPr wrap="square" rtlCol="0" anchor="t"/>
          <a:lstStyle/>
          <a:p>
            <a:pPr marL="0" indent="0">
              <a:buNone/>
            </a:pPr>
            <a:r>
              <a:rPr lang="en-US" sz="1050" dirty="0">
                <a:solidFill>
                  <a:srgbClr val="D9E6DC"/>
                </a:solidFill>
                <a:latin typeface="Calibri" pitchFamily="34" charset="0"/>
                <a:ea typeface="Calibri" pitchFamily="34" charset="-122"/>
                <a:cs typeface="Calibri" pitchFamily="34" charset="-120"/>
              </a:rPr>
              <a:t>Supervised learning on historical patterns (Random Forest / XGBoost)</a:t>
            </a:r>
            <a:endParaRPr lang="en-US" sz="1050" dirty="0"/>
          </a:p>
        </p:txBody>
      </p:sp>
      <p:pic>
        <p:nvPicPr>
          <p:cNvPr id="73" name="Image 14" descr="/home/claude/work/build/icons/arrowdown_forest.png"/>
          <p:cNvPicPr>
            <a:picLocks noChangeAspect="1"/>
          </p:cNvPicPr>
          <p:nvPr/>
        </p:nvPicPr>
        <p:blipFill>
          <a:blip r:embed="rId5"/>
          <a:stretch>
            <a:fillRect/>
          </a:stretch>
        </p:blipFill>
        <p:spPr>
          <a:xfrm>
            <a:off x="11320272" y="3657600"/>
            <a:ext cx="146304" cy="146304"/>
          </a:xfrm>
          <a:prstGeom prst="rect">
            <a:avLst/>
          </a:prstGeom>
        </p:spPr>
      </p:pic>
      <p:sp>
        <p:nvSpPr>
          <p:cNvPr id="74" name="Shape 57"/>
          <p:cNvSpPr/>
          <p:nvPr/>
        </p:nvSpPr>
        <p:spPr>
          <a:xfrm>
            <a:off x="6281928" y="3785616"/>
            <a:ext cx="5349240" cy="646176"/>
          </a:xfrm>
          <a:prstGeom prst="roundRect">
            <a:avLst>
              <a:gd name="adj" fmla="val 8491"/>
            </a:avLst>
          </a:prstGeom>
          <a:solidFill>
            <a:srgbClr val="1B4332"/>
          </a:solidFill>
          <a:ln/>
        </p:spPr>
      </p:sp>
      <p:sp>
        <p:nvSpPr>
          <p:cNvPr id="75" name="Shape 58"/>
          <p:cNvSpPr/>
          <p:nvPr/>
        </p:nvSpPr>
        <p:spPr>
          <a:xfrm>
            <a:off x="6391656" y="3953256"/>
            <a:ext cx="310896" cy="310896"/>
          </a:xfrm>
          <a:prstGeom prst="ellipse">
            <a:avLst/>
          </a:prstGeom>
          <a:solidFill>
            <a:srgbClr val="FFFFFF"/>
          </a:solidFill>
          <a:ln/>
        </p:spPr>
      </p:sp>
      <p:pic>
        <p:nvPicPr>
          <p:cNvPr id="76" name="Image 15" descr="/home/claude/work/build/icons/chartbar_forest.png"/>
          <p:cNvPicPr>
            <a:picLocks noChangeAspect="1"/>
          </p:cNvPicPr>
          <p:nvPr/>
        </p:nvPicPr>
        <p:blipFill>
          <a:blip r:embed="rId8"/>
          <a:stretch>
            <a:fillRect/>
          </a:stretch>
        </p:blipFill>
        <p:spPr>
          <a:xfrm>
            <a:off x="6446520" y="4008120"/>
            <a:ext cx="201168" cy="201168"/>
          </a:xfrm>
          <a:prstGeom prst="rect">
            <a:avLst/>
          </a:prstGeom>
        </p:spPr>
      </p:pic>
      <p:sp>
        <p:nvSpPr>
          <p:cNvPr id="77" name="Text 59"/>
          <p:cNvSpPr/>
          <p:nvPr/>
        </p:nvSpPr>
        <p:spPr>
          <a:xfrm>
            <a:off x="6812280" y="3840480"/>
            <a:ext cx="4690872" cy="23774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Risk Classification</a:t>
            </a:r>
            <a:endParaRPr lang="en-US" sz="1400" dirty="0"/>
          </a:p>
        </p:txBody>
      </p:sp>
      <p:sp>
        <p:nvSpPr>
          <p:cNvPr id="78" name="Text 60"/>
          <p:cNvSpPr/>
          <p:nvPr/>
        </p:nvSpPr>
        <p:spPr>
          <a:xfrm>
            <a:off x="6812280" y="4078224"/>
            <a:ext cx="4690872" cy="316992"/>
          </a:xfrm>
          <a:prstGeom prst="rect">
            <a:avLst/>
          </a:prstGeom>
          <a:noFill/>
          <a:ln/>
        </p:spPr>
        <p:txBody>
          <a:bodyPr wrap="square" rtlCol="0" anchor="t"/>
          <a:lstStyle/>
          <a:p>
            <a:pPr marL="0" indent="0">
              <a:buNone/>
            </a:pPr>
            <a:r>
              <a:rPr lang="en-US" sz="1050" dirty="0">
                <a:solidFill>
                  <a:srgbClr val="D9E6DC"/>
                </a:solidFill>
                <a:latin typeface="Calibri" pitchFamily="34" charset="0"/>
                <a:ea typeface="Calibri" pitchFamily="34" charset="-122"/>
                <a:cs typeface="Calibri" pitchFamily="34" charset="-120"/>
              </a:rPr>
              <a:t>Each zone scored Low / Moderate / High / Critical</a:t>
            </a:r>
            <a:endParaRPr lang="en-US" sz="1050" dirty="0"/>
          </a:p>
        </p:txBody>
      </p:sp>
      <p:pic>
        <p:nvPicPr>
          <p:cNvPr id="79" name="Image 16" descr="/home/claude/work/build/icons/arrowdown_forest.png"/>
          <p:cNvPicPr>
            <a:picLocks noChangeAspect="1"/>
          </p:cNvPicPr>
          <p:nvPr/>
        </p:nvPicPr>
        <p:blipFill>
          <a:blip r:embed="rId5"/>
          <a:stretch>
            <a:fillRect/>
          </a:stretch>
        </p:blipFill>
        <p:spPr>
          <a:xfrm>
            <a:off x="11320272" y="4413504"/>
            <a:ext cx="146304" cy="146304"/>
          </a:xfrm>
          <a:prstGeom prst="rect">
            <a:avLst/>
          </a:prstGeom>
        </p:spPr>
      </p:pic>
      <p:sp>
        <p:nvSpPr>
          <p:cNvPr id="80" name="Shape 61"/>
          <p:cNvSpPr/>
          <p:nvPr/>
        </p:nvSpPr>
        <p:spPr>
          <a:xfrm>
            <a:off x="6281928" y="4541520"/>
            <a:ext cx="5349240" cy="646176"/>
          </a:xfrm>
          <a:prstGeom prst="roundRect">
            <a:avLst>
              <a:gd name="adj" fmla="val 8491"/>
            </a:avLst>
          </a:prstGeom>
          <a:solidFill>
            <a:srgbClr val="1B4332"/>
          </a:solidFill>
          <a:ln/>
        </p:spPr>
      </p:sp>
      <p:sp>
        <p:nvSpPr>
          <p:cNvPr id="81" name="Shape 62"/>
          <p:cNvSpPr/>
          <p:nvPr/>
        </p:nvSpPr>
        <p:spPr>
          <a:xfrm>
            <a:off x="6391656" y="4709160"/>
            <a:ext cx="310896" cy="310896"/>
          </a:xfrm>
          <a:prstGeom prst="ellipse">
            <a:avLst/>
          </a:prstGeom>
          <a:solidFill>
            <a:srgbClr val="FFFFFF"/>
          </a:solidFill>
          <a:ln/>
        </p:spPr>
      </p:sp>
      <p:pic>
        <p:nvPicPr>
          <p:cNvPr id="82" name="Image 17" descr="/home/claude/work/build/icons/mappin_forest.png"/>
          <p:cNvPicPr>
            <a:picLocks noChangeAspect="1"/>
          </p:cNvPicPr>
          <p:nvPr/>
        </p:nvPicPr>
        <p:blipFill>
          <a:blip r:embed="rId9"/>
          <a:stretch>
            <a:fillRect/>
          </a:stretch>
        </p:blipFill>
        <p:spPr>
          <a:xfrm>
            <a:off x="6446520" y="4764024"/>
            <a:ext cx="201168" cy="201168"/>
          </a:xfrm>
          <a:prstGeom prst="rect">
            <a:avLst/>
          </a:prstGeom>
        </p:spPr>
      </p:pic>
      <p:sp>
        <p:nvSpPr>
          <p:cNvPr id="83" name="Text 63"/>
          <p:cNvSpPr/>
          <p:nvPr/>
        </p:nvSpPr>
        <p:spPr>
          <a:xfrm>
            <a:off x="6812280" y="4596384"/>
            <a:ext cx="4690872" cy="23774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GIS Risk Mapping</a:t>
            </a:r>
            <a:endParaRPr lang="en-US" sz="1400" dirty="0"/>
          </a:p>
        </p:txBody>
      </p:sp>
      <p:sp>
        <p:nvSpPr>
          <p:cNvPr id="84" name="Text 64"/>
          <p:cNvSpPr/>
          <p:nvPr/>
        </p:nvSpPr>
        <p:spPr>
          <a:xfrm>
            <a:off x="6812280" y="4834128"/>
            <a:ext cx="4690872" cy="316992"/>
          </a:xfrm>
          <a:prstGeom prst="rect">
            <a:avLst/>
          </a:prstGeom>
          <a:noFill/>
          <a:ln/>
        </p:spPr>
        <p:txBody>
          <a:bodyPr wrap="square" rtlCol="0" anchor="t"/>
          <a:lstStyle/>
          <a:p>
            <a:pPr marL="0" indent="0">
              <a:buNone/>
            </a:pPr>
            <a:r>
              <a:rPr lang="en-US" sz="1050" dirty="0">
                <a:solidFill>
                  <a:srgbClr val="D9E6DC"/>
                </a:solidFill>
                <a:latin typeface="Calibri" pitchFamily="34" charset="0"/>
                <a:ea typeface="Calibri" pitchFamily="34" charset="-122"/>
                <a:cs typeface="Calibri" pitchFamily="34" charset="-120"/>
              </a:rPr>
              <a:t>Risk levels visualised on an interactive web map</a:t>
            </a:r>
            <a:endParaRPr lang="en-US" sz="1050" dirty="0"/>
          </a:p>
        </p:txBody>
      </p:sp>
      <p:pic>
        <p:nvPicPr>
          <p:cNvPr id="85" name="Image 18" descr="/home/claude/work/build/icons/arrowdown_forest.png"/>
          <p:cNvPicPr>
            <a:picLocks noChangeAspect="1"/>
          </p:cNvPicPr>
          <p:nvPr/>
        </p:nvPicPr>
        <p:blipFill>
          <a:blip r:embed="rId5"/>
          <a:stretch>
            <a:fillRect/>
          </a:stretch>
        </p:blipFill>
        <p:spPr>
          <a:xfrm>
            <a:off x="11320272" y="5169408"/>
            <a:ext cx="146304" cy="146304"/>
          </a:xfrm>
          <a:prstGeom prst="rect">
            <a:avLst/>
          </a:prstGeom>
        </p:spPr>
      </p:pic>
      <p:sp>
        <p:nvSpPr>
          <p:cNvPr id="86" name="Shape 65"/>
          <p:cNvSpPr/>
          <p:nvPr/>
        </p:nvSpPr>
        <p:spPr>
          <a:xfrm>
            <a:off x="6281928" y="5297424"/>
            <a:ext cx="5349240" cy="646176"/>
          </a:xfrm>
          <a:prstGeom prst="roundRect">
            <a:avLst>
              <a:gd name="adj" fmla="val 8491"/>
            </a:avLst>
          </a:prstGeom>
          <a:solidFill>
            <a:srgbClr val="1B4332"/>
          </a:solidFill>
          <a:ln/>
        </p:spPr>
      </p:sp>
      <p:sp>
        <p:nvSpPr>
          <p:cNvPr id="87" name="Shape 66"/>
          <p:cNvSpPr/>
          <p:nvPr/>
        </p:nvSpPr>
        <p:spPr>
          <a:xfrm>
            <a:off x="6391656" y="5465064"/>
            <a:ext cx="310896" cy="310896"/>
          </a:xfrm>
          <a:prstGeom prst="ellipse">
            <a:avLst/>
          </a:prstGeom>
          <a:solidFill>
            <a:srgbClr val="FFFFFF"/>
          </a:solidFill>
          <a:ln/>
        </p:spPr>
      </p:sp>
      <p:pic>
        <p:nvPicPr>
          <p:cNvPr id="88" name="Image 19" descr="/home/claude/work/build/icons/bell_forest.png"/>
          <p:cNvPicPr>
            <a:picLocks noChangeAspect="1"/>
          </p:cNvPicPr>
          <p:nvPr/>
        </p:nvPicPr>
        <p:blipFill>
          <a:blip r:embed="rId10"/>
          <a:stretch>
            <a:fillRect/>
          </a:stretch>
        </p:blipFill>
        <p:spPr>
          <a:xfrm>
            <a:off x="6446520" y="5519928"/>
            <a:ext cx="201168" cy="201168"/>
          </a:xfrm>
          <a:prstGeom prst="rect">
            <a:avLst/>
          </a:prstGeom>
        </p:spPr>
      </p:pic>
      <p:sp>
        <p:nvSpPr>
          <p:cNvPr id="89" name="Text 67"/>
          <p:cNvSpPr/>
          <p:nvPr/>
        </p:nvSpPr>
        <p:spPr>
          <a:xfrm>
            <a:off x="6812280" y="5352288"/>
            <a:ext cx="4690872" cy="23774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Early Warning &amp; Alerts</a:t>
            </a:r>
            <a:endParaRPr lang="en-US" sz="1400" dirty="0"/>
          </a:p>
        </p:txBody>
      </p:sp>
      <p:sp>
        <p:nvSpPr>
          <p:cNvPr id="90" name="Text 68"/>
          <p:cNvSpPr/>
          <p:nvPr/>
        </p:nvSpPr>
        <p:spPr>
          <a:xfrm>
            <a:off x="6812280" y="5590032"/>
            <a:ext cx="4690872" cy="316992"/>
          </a:xfrm>
          <a:prstGeom prst="rect">
            <a:avLst/>
          </a:prstGeom>
          <a:noFill/>
          <a:ln/>
        </p:spPr>
        <p:txBody>
          <a:bodyPr wrap="square" rtlCol="0" anchor="t"/>
          <a:lstStyle/>
          <a:p>
            <a:pPr marL="0" indent="0">
              <a:buNone/>
            </a:pPr>
            <a:r>
              <a:rPr lang="en-US" sz="1050" dirty="0">
                <a:solidFill>
                  <a:srgbClr val="D9E6DC"/>
                </a:solidFill>
                <a:latin typeface="Calibri" pitchFamily="34" charset="0"/>
                <a:ea typeface="Calibri" pitchFamily="34" charset="-122"/>
                <a:cs typeface="Calibri" pitchFamily="34" charset="-120"/>
              </a:rPr>
              <a:t>Automated SMS, email and dashboard notifications</a:t>
            </a:r>
            <a:endParaRPr lang="en-US" sz="1050" dirty="0"/>
          </a:p>
        </p:txBody>
      </p:sp>
      <p:grpSp>
        <p:nvGrpSpPr>
          <p:cNvPr id="97" name="Group 96">
            <a:extLst>
              <a:ext uri="{FF2B5EF4-FFF2-40B4-BE49-F238E27FC236}">
                <a16:creationId xmlns:a16="http://schemas.microsoft.com/office/drawing/2014/main" id="{371BBCB0-0209-1DA5-9008-5408C081DC1C}"/>
              </a:ext>
            </a:extLst>
          </p:cNvPr>
          <p:cNvGrpSpPr/>
          <p:nvPr/>
        </p:nvGrpSpPr>
        <p:grpSpPr>
          <a:xfrm>
            <a:off x="384048" y="1517904"/>
            <a:ext cx="5623560" cy="4837176"/>
            <a:chOff x="384048" y="1517904"/>
            <a:chExt cx="5623560" cy="4837176"/>
          </a:xfrm>
        </p:grpSpPr>
        <p:sp>
          <p:nvSpPr>
            <p:cNvPr id="15" name="Shape 12"/>
            <p:cNvSpPr/>
            <p:nvPr/>
          </p:nvSpPr>
          <p:spPr>
            <a:xfrm>
              <a:off x="384048" y="1517904"/>
              <a:ext cx="2729484" cy="1037844"/>
            </a:xfrm>
            <a:prstGeom prst="roundRect">
              <a:avLst>
                <a:gd name="adj" fmla="val 5286"/>
              </a:avLst>
            </a:prstGeom>
            <a:solidFill>
              <a:srgbClr val="F7FAF7"/>
            </a:solidFill>
            <a:ln w="9525">
              <a:solidFill>
                <a:srgbClr val="D8E3DA"/>
              </a:solidFill>
              <a:prstDash val="solid"/>
            </a:ln>
          </p:spPr>
          <p:txBody>
            <a:bodyPr/>
            <a:lstStyle/>
            <a:p>
              <a:endParaRPr lang="en-IN" sz="2400" dirty="0"/>
            </a:p>
          </p:txBody>
        </p:sp>
        <p:sp>
          <p:nvSpPr>
            <p:cNvPr id="16" name="Shape 13"/>
            <p:cNvSpPr/>
            <p:nvPr/>
          </p:nvSpPr>
          <p:spPr>
            <a:xfrm>
              <a:off x="512064" y="1863090"/>
              <a:ext cx="347472" cy="347472"/>
            </a:xfrm>
            <a:prstGeom prst="ellipse">
              <a:avLst/>
            </a:prstGeom>
            <a:solidFill>
              <a:srgbClr val="2F6B3A"/>
            </a:solidFill>
            <a:ln/>
          </p:spPr>
        </p:sp>
        <p:pic>
          <p:nvPicPr>
            <p:cNvPr id="17" name="Image 1" descr="/home/claude/work/build/icons/code_white.png"/>
            <p:cNvPicPr>
              <a:picLocks noChangeAspect="1"/>
            </p:cNvPicPr>
            <p:nvPr/>
          </p:nvPicPr>
          <p:blipFill>
            <a:blip r:embed="rId11"/>
            <a:stretch>
              <a:fillRect/>
            </a:stretch>
          </p:blipFill>
          <p:spPr>
            <a:xfrm>
              <a:off x="589788" y="1940814"/>
              <a:ext cx="192024" cy="192024"/>
            </a:xfrm>
            <a:prstGeom prst="rect">
              <a:avLst/>
            </a:prstGeom>
          </p:spPr>
        </p:pic>
        <p:sp>
          <p:nvSpPr>
            <p:cNvPr id="18" name="Text 14"/>
            <p:cNvSpPr/>
            <p:nvPr/>
          </p:nvSpPr>
          <p:spPr>
            <a:xfrm>
              <a:off x="950976" y="1591056"/>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Frontend</a:t>
              </a:r>
              <a:endParaRPr lang="en-US" sz="1200" dirty="0"/>
            </a:p>
          </p:txBody>
        </p:sp>
        <p:sp>
          <p:nvSpPr>
            <p:cNvPr id="19" name="Text 15"/>
            <p:cNvSpPr/>
            <p:nvPr/>
          </p:nvSpPr>
          <p:spPr>
            <a:xfrm>
              <a:off x="950976" y="1828800"/>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React.js, HTML5, CSS3, JavaScript</a:t>
              </a:r>
              <a:endParaRPr lang="en-US" sz="1000" dirty="0"/>
            </a:p>
          </p:txBody>
        </p:sp>
        <p:sp>
          <p:nvSpPr>
            <p:cNvPr id="20" name="Shape 16"/>
            <p:cNvSpPr/>
            <p:nvPr/>
          </p:nvSpPr>
          <p:spPr>
            <a:xfrm>
              <a:off x="3278124" y="1517904"/>
              <a:ext cx="2729484" cy="1037844"/>
            </a:xfrm>
            <a:prstGeom prst="roundRect">
              <a:avLst>
                <a:gd name="adj" fmla="val 5286"/>
              </a:avLst>
            </a:prstGeom>
            <a:solidFill>
              <a:srgbClr val="F7FAF7"/>
            </a:solidFill>
            <a:ln w="9525">
              <a:solidFill>
                <a:srgbClr val="D8E3DA"/>
              </a:solidFill>
              <a:prstDash val="solid"/>
            </a:ln>
          </p:spPr>
        </p:sp>
        <p:sp>
          <p:nvSpPr>
            <p:cNvPr id="21" name="Shape 17"/>
            <p:cNvSpPr/>
            <p:nvPr/>
          </p:nvSpPr>
          <p:spPr>
            <a:xfrm>
              <a:off x="3406140" y="1863090"/>
              <a:ext cx="347472" cy="347472"/>
            </a:xfrm>
            <a:prstGeom prst="ellipse">
              <a:avLst/>
            </a:prstGeom>
            <a:solidFill>
              <a:srgbClr val="2F6B3A"/>
            </a:solidFill>
            <a:ln/>
          </p:spPr>
        </p:sp>
        <p:pic>
          <p:nvPicPr>
            <p:cNvPr id="22" name="Image 2" descr="/home/claude/work/build/icons/server_white.png"/>
            <p:cNvPicPr>
              <a:picLocks noChangeAspect="1"/>
            </p:cNvPicPr>
            <p:nvPr/>
          </p:nvPicPr>
          <p:blipFill>
            <a:blip r:embed="rId12"/>
            <a:stretch>
              <a:fillRect/>
            </a:stretch>
          </p:blipFill>
          <p:spPr>
            <a:xfrm>
              <a:off x="3483864" y="1940814"/>
              <a:ext cx="192024" cy="192024"/>
            </a:xfrm>
            <a:prstGeom prst="rect">
              <a:avLst/>
            </a:prstGeom>
          </p:spPr>
        </p:pic>
        <p:sp>
          <p:nvSpPr>
            <p:cNvPr id="23" name="Text 18"/>
            <p:cNvSpPr/>
            <p:nvPr/>
          </p:nvSpPr>
          <p:spPr>
            <a:xfrm>
              <a:off x="3845052" y="1591056"/>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Backend</a:t>
              </a:r>
              <a:endParaRPr lang="en-US" sz="1200" dirty="0"/>
            </a:p>
          </p:txBody>
        </p:sp>
        <p:sp>
          <p:nvSpPr>
            <p:cNvPr id="24" name="Text 19"/>
            <p:cNvSpPr/>
            <p:nvPr/>
          </p:nvSpPr>
          <p:spPr>
            <a:xfrm>
              <a:off x="3845052" y="1828800"/>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Python — FastAPI / Flask, REST APIs</a:t>
              </a:r>
              <a:endParaRPr lang="en-US" sz="1000" dirty="0"/>
            </a:p>
          </p:txBody>
        </p:sp>
        <p:sp>
          <p:nvSpPr>
            <p:cNvPr id="25" name="Shape 20"/>
            <p:cNvSpPr/>
            <p:nvPr/>
          </p:nvSpPr>
          <p:spPr>
            <a:xfrm>
              <a:off x="384048" y="2647188"/>
              <a:ext cx="2729484" cy="1037844"/>
            </a:xfrm>
            <a:prstGeom prst="roundRect">
              <a:avLst>
                <a:gd name="adj" fmla="val 5286"/>
              </a:avLst>
            </a:prstGeom>
            <a:solidFill>
              <a:srgbClr val="F7FAF7"/>
            </a:solidFill>
            <a:ln w="9525">
              <a:solidFill>
                <a:srgbClr val="D8E3DA"/>
              </a:solidFill>
              <a:prstDash val="solid"/>
            </a:ln>
          </p:spPr>
        </p:sp>
        <p:sp>
          <p:nvSpPr>
            <p:cNvPr id="26" name="Shape 21"/>
            <p:cNvSpPr/>
            <p:nvPr/>
          </p:nvSpPr>
          <p:spPr>
            <a:xfrm>
              <a:off x="512064" y="2992374"/>
              <a:ext cx="347472" cy="347472"/>
            </a:xfrm>
            <a:prstGeom prst="ellipse">
              <a:avLst/>
            </a:prstGeom>
            <a:solidFill>
              <a:srgbClr val="2F6B3A"/>
            </a:solidFill>
            <a:ln/>
          </p:spPr>
        </p:sp>
        <p:pic>
          <p:nvPicPr>
            <p:cNvPr id="27" name="Image 3" descr="/home/claude/work/build/icons/brain_white.png"/>
            <p:cNvPicPr>
              <a:picLocks noChangeAspect="1"/>
            </p:cNvPicPr>
            <p:nvPr/>
          </p:nvPicPr>
          <p:blipFill>
            <a:blip r:embed="rId13"/>
            <a:stretch>
              <a:fillRect/>
            </a:stretch>
          </p:blipFill>
          <p:spPr>
            <a:xfrm>
              <a:off x="589788" y="3070098"/>
              <a:ext cx="192024" cy="192024"/>
            </a:xfrm>
            <a:prstGeom prst="rect">
              <a:avLst/>
            </a:prstGeom>
          </p:spPr>
        </p:pic>
        <p:sp>
          <p:nvSpPr>
            <p:cNvPr id="28" name="Text 22"/>
            <p:cNvSpPr/>
            <p:nvPr/>
          </p:nvSpPr>
          <p:spPr>
            <a:xfrm>
              <a:off x="950976" y="2720340"/>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AI / ML</a:t>
              </a:r>
              <a:endParaRPr lang="en-US" sz="1200" dirty="0"/>
            </a:p>
          </p:txBody>
        </p:sp>
        <p:sp>
          <p:nvSpPr>
            <p:cNvPr id="29" name="Text 23"/>
            <p:cNvSpPr/>
            <p:nvPr/>
          </p:nvSpPr>
          <p:spPr>
            <a:xfrm>
              <a:off x="950976" y="2958084"/>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Python, Pandas, NumPy, Scikit-learn, XGBoost</a:t>
              </a:r>
              <a:endParaRPr lang="en-US" sz="1000" dirty="0"/>
            </a:p>
          </p:txBody>
        </p:sp>
        <p:sp>
          <p:nvSpPr>
            <p:cNvPr id="30" name="Shape 24"/>
            <p:cNvSpPr/>
            <p:nvPr/>
          </p:nvSpPr>
          <p:spPr>
            <a:xfrm>
              <a:off x="3278124" y="2647188"/>
              <a:ext cx="2729484" cy="1037844"/>
            </a:xfrm>
            <a:prstGeom prst="roundRect">
              <a:avLst>
                <a:gd name="adj" fmla="val 5286"/>
              </a:avLst>
            </a:prstGeom>
            <a:solidFill>
              <a:srgbClr val="F7FAF7"/>
            </a:solidFill>
            <a:ln w="9525">
              <a:solidFill>
                <a:srgbClr val="D8E3DA"/>
              </a:solidFill>
              <a:prstDash val="solid"/>
            </a:ln>
          </p:spPr>
        </p:sp>
        <p:sp>
          <p:nvSpPr>
            <p:cNvPr id="31" name="Shape 25"/>
            <p:cNvSpPr/>
            <p:nvPr/>
          </p:nvSpPr>
          <p:spPr>
            <a:xfrm>
              <a:off x="3406140" y="2992374"/>
              <a:ext cx="347472" cy="347472"/>
            </a:xfrm>
            <a:prstGeom prst="ellipse">
              <a:avLst/>
            </a:prstGeom>
            <a:solidFill>
              <a:srgbClr val="2F6B3A"/>
            </a:solidFill>
            <a:ln/>
          </p:spPr>
        </p:sp>
        <p:pic>
          <p:nvPicPr>
            <p:cNvPr id="32" name="Image 4" descr="/home/claude/work/build/icons/database_white.png"/>
            <p:cNvPicPr>
              <a:picLocks noChangeAspect="1"/>
            </p:cNvPicPr>
            <p:nvPr/>
          </p:nvPicPr>
          <p:blipFill>
            <a:blip r:embed="rId14"/>
            <a:stretch>
              <a:fillRect/>
            </a:stretch>
          </p:blipFill>
          <p:spPr>
            <a:xfrm>
              <a:off x="3483864" y="3070098"/>
              <a:ext cx="192024" cy="192024"/>
            </a:xfrm>
            <a:prstGeom prst="rect">
              <a:avLst/>
            </a:prstGeom>
          </p:spPr>
        </p:pic>
        <p:sp>
          <p:nvSpPr>
            <p:cNvPr id="33" name="Text 26"/>
            <p:cNvSpPr/>
            <p:nvPr/>
          </p:nvSpPr>
          <p:spPr>
            <a:xfrm>
              <a:off x="3845052" y="2720340"/>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Database</a:t>
              </a:r>
              <a:endParaRPr lang="en-US" sz="1200" dirty="0"/>
            </a:p>
          </p:txBody>
        </p:sp>
        <p:sp>
          <p:nvSpPr>
            <p:cNvPr id="34" name="Text 27"/>
            <p:cNvSpPr/>
            <p:nvPr/>
          </p:nvSpPr>
          <p:spPr>
            <a:xfrm>
              <a:off x="3845052" y="2958084"/>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PostgreSQL + PostGIS (spatial queries)</a:t>
              </a:r>
              <a:endParaRPr lang="en-US" sz="1000" dirty="0"/>
            </a:p>
          </p:txBody>
        </p:sp>
        <p:sp>
          <p:nvSpPr>
            <p:cNvPr id="35" name="Shape 28"/>
            <p:cNvSpPr/>
            <p:nvPr/>
          </p:nvSpPr>
          <p:spPr>
            <a:xfrm>
              <a:off x="384048" y="3776472"/>
              <a:ext cx="2729484" cy="1037844"/>
            </a:xfrm>
            <a:prstGeom prst="roundRect">
              <a:avLst>
                <a:gd name="adj" fmla="val 5286"/>
              </a:avLst>
            </a:prstGeom>
            <a:solidFill>
              <a:srgbClr val="F7FAF7"/>
            </a:solidFill>
            <a:ln w="9525">
              <a:solidFill>
                <a:srgbClr val="D8E3DA"/>
              </a:solidFill>
              <a:prstDash val="solid"/>
            </a:ln>
          </p:spPr>
        </p:sp>
        <p:sp>
          <p:nvSpPr>
            <p:cNvPr id="36" name="Shape 29"/>
            <p:cNvSpPr/>
            <p:nvPr/>
          </p:nvSpPr>
          <p:spPr>
            <a:xfrm>
              <a:off x="512064" y="4121658"/>
              <a:ext cx="347472" cy="347472"/>
            </a:xfrm>
            <a:prstGeom prst="ellipse">
              <a:avLst/>
            </a:prstGeom>
            <a:solidFill>
              <a:srgbClr val="2F6B3A"/>
            </a:solidFill>
            <a:ln/>
          </p:spPr>
        </p:sp>
        <p:pic>
          <p:nvPicPr>
            <p:cNvPr id="37" name="Image 5" descr="/home/claude/work/build/icons/map_white.png"/>
            <p:cNvPicPr>
              <a:picLocks noChangeAspect="1"/>
            </p:cNvPicPr>
            <p:nvPr/>
          </p:nvPicPr>
          <p:blipFill>
            <a:blip r:embed="rId15"/>
            <a:stretch>
              <a:fillRect/>
            </a:stretch>
          </p:blipFill>
          <p:spPr>
            <a:xfrm>
              <a:off x="589788" y="4199382"/>
              <a:ext cx="192024" cy="192024"/>
            </a:xfrm>
            <a:prstGeom prst="rect">
              <a:avLst/>
            </a:prstGeom>
          </p:spPr>
        </p:pic>
        <p:sp>
          <p:nvSpPr>
            <p:cNvPr id="38" name="Text 30"/>
            <p:cNvSpPr/>
            <p:nvPr/>
          </p:nvSpPr>
          <p:spPr>
            <a:xfrm>
              <a:off x="950976" y="3849624"/>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GIS &amp; Mapping</a:t>
              </a:r>
              <a:endParaRPr lang="en-US" sz="1200" dirty="0"/>
            </a:p>
          </p:txBody>
        </p:sp>
        <p:sp>
          <p:nvSpPr>
            <p:cNvPr id="39" name="Text 31"/>
            <p:cNvSpPr/>
            <p:nvPr/>
          </p:nvSpPr>
          <p:spPr>
            <a:xfrm>
              <a:off x="950976" y="4087368"/>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Leaflet.js / Mapbox interactive risk maps</a:t>
              </a:r>
              <a:endParaRPr lang="en-US" sz="1000" dirty="0"/>
            </a:p>
          </p:txBody>
        </p:sp>
        <p:sp>
          <p:nvSpPr>
            <p:cNvPr id="40" name="Shape 32"/>
            <p:cNvSpPr/>
            <p:nvPr/>
          </p:nvSpPr>
          <p:spPr>
            <a:xfrm>
              <a:off x="3278124" y="3776472"/>
              <a:ext cx="2729484" cy="1037844"/>
            </a:xfrm>
            <a:prstGeom prst="roundRect">
              <a:avLst>
                <a:gd name="adj" fmla="val 5286"/>
              </a:avLst>
            </a:prstGeom>
            <a:solidFill>
              <a:srgbClr val="F7FAF7"/>
            </a:solidFill>
            <a:ln w="9525">
              <a:solidFill>
                <a:srgbClr val="D8E3DA"/>
              </a:solidFill>
              <a:prstDash val="solid"/>
            </a:ln>
          </p:spPr>
        </p:sp>
        <p:sp>
          <p:nvSpPr>
            <p:cNvPr id="41" name="Shape 33"/>
            <p:cNvSpPr/>
            <p:nvPr/>
          </p:nvSpPr>
          <p:spPr>
            <a:xfrm>
              <a:off x="3406140" y="4121658"/>
              <a:ext cx="347472" cy="347472"/>
            </a:xfrm>
            <a:prstGeom prst="ellipse">
              <a:avLst/>
            </a:prstGeom>
            <a:solidFill>
              <a:srgbClr val="2F6B3A"/>
            </a:solidFill>
            <a:ln/>
          </p:spPr>
        </p:sp>
        <p:pic>
          <p:nvPicPr>
            <p:cNvPr id="42" name="Image 6" descr="/home/claude/work/build/icons/bell_white.png"/>
            <p:cNvPicPr>
              <a:picLocks noChangeAspect="1"/>
            </p:cNvPicPr>
            <p:nvPr/>
          </p:nvPicPr>
          <p:blipFill>
            <a:blip r:embed="rId16"/>
            <a:stretch>
              <a:fillRect/>
            </a:stretch>
          </p:blipFill>
          <p:spPr>
            <a:xfrm>
              <a:off x="3483864" y="4199382"/>
              <a:ext cx="192024" cy="192024"/>
            </a:xfrm>
            <a:prstGeom prst="rect">
              <a:avLst/>
            </a:prstGeom>
          </p:spPr>
        </p:pic>
        <p:sp>
          <p:nvSpPr>
            <p:cNvPr id="43" name="Text 34"/>
            <p:cNvSpPr/>
            <p:nvPr/>
          </p:nvSpPr>
          <p:spPr>
            <a:xfrm>
              <a:off x="3845052" y="3849624"/>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Alerts &amp; Notifications</a:t>
              </a:r>
              <a:endParaRPr lang="en-US" sz="1200" dirty="0"/>
            </a:p>
          </p:txBody>
        </p:sp>
        <p:sp>
          <p:nvSpPr>
            <p:cNvPr id="44" name="Text 35"/>
            <p:cNvSpPr/>
            <p:nvPr/>
          </p:nvSpPr>
          <p:spPr>
            <a:xfrm>
              <a:off x="3845052" y="4087368"/>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Twilio SMS API, SMTP Email, Web Push</a:t>
              </a:r>
              <a:endParaRPr lang="en-US" sz="1000" dirty="0"/>
            </a:p>
          </p:txBody>
        </p:sp>
        <p:sp>
          <p:nvSpPr>
            <p:cNvPr id="45" name="Shape 36"/>
            <p:cNvSpPr/>
            <p:nvPr/>
          </p:nvSpPr>
          <p:spPr>
            <a:xfrm>
              <a:off x="384048" y="4905756"/>
              <a:ext cx="2729484" cy="1037844"/>
            </a:xfrm>
            <a:prstGeom prst="roundRect">
              <a:avLst>
                <a:gd name="adj" fmla="val 5286"/>
              </a:avLst>
            </a:prstGeom>
            <a:solidFill>
              <a:srgbClr val="F7FAF7"/>
            </a:solidFill>
            <a:ln w="9525">
              <a:solidFill>
                <a:srgbClr val="D8E3DA"/>
              </a:solidFill>
              <a:prstDash val="solid"/>
            </a:ln>
          </p:spPr>
        </p:sp>
        <p:sp>
          <p:nvSpPr>
            <p:cNvPr id="46" name="Shape 37"/>
            <p:cNvSpPr/>
            <p:nvPr/>
          </p:nvSpPr>
          <p:spPr>
            <a:xfrm>
              <a:off x="512064" y="5250942"/>
              <a:ext cx="347472" cy="347472"/>
            </a:xfrm>
            <a:prstGeom prst="ellipse">
              <a:avLst/>
            </a:prstGeom>
            <a:solidFill>
              <a:srgbClr val="2F6B3A"/>
            </a:solidFill>
            <a:ln/>
          </p:spPr>
        </p:sp>
        <p:pic>
          <p:nvPicPr>
            <p:cNvPr id="47" name="Image 7" descr="/home/claude/work/build/icons/satellite_white.png"/>
            <p:cNvPicPr>
              <a:picLocks noChangeAspect="1"/>
            </p:cNvPicPr>
            <p:nvPr/>
          </p:nvPicPr>
          <p:blipFill>
            <a:blip r:embed="rId17"/>
            <a:stretch>
              <a:fillRect/>
            </a:stretch>
          </p:blipFill>
          <p:spPr>
            <a:xfrm>
              <a:off x="589788" y="5328666"/>
              <a:ext cx="192024" cy="192024"/>
            </a:xfrm>
            <a:prstGeom prst="rect">
              <a:avLst/>
            </a:prstGeom>
          </p:spPr>
        </p:pic>
        <p:sp>
          <p:nvSpPr>
            <p:cNvPr id="48" name="Text 38"/>
            <p:cNvSpPr/>
            <p:nvPr/>
          </p:nvSpPr>
          <p:spPr>
            <a:xfrm>
              <a:off x="950976" y="4978908"/>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Historical Data Sources</a:t>
              </a:r>
              <a:endParaRPr lang="en-US" sz="1200" dirty="0"/>
            </a:p>
          </p:txBody>
        </p:sp>
        <p:sp>
          <p:nvSpPr>
            <p:cNvPr id="49" name="Text 39"/>
            <p:cNvSpPr/>
            <p:nvPr/>
          </p:nvSpPr>
          <p:spPr>
            <a:xfrm>
              <a:off x="950976" y="5216652"/>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IMD rainfall, NASA SMAP, ISRO Bhuvan, GSI, Sentinel-2</a:t>
              </a:r>
              <a:endParaRPr lang="en-US" sz="1000" dirty="0"/>
            </a:p>
          </p:txBody>
        </p:sp>
        <p:sp>
          <p:nvSpPr>
            <p:cNvPr id="50" name="Shape 40"/>
            <p:cNvSpPr/>
            <p:nvPr/>
          </p:nvSpPr>
          <p:spPr>
            <a:xfrm>
              <a:off x="3278124" y="4905756"/>
              <a:ext cx="2729484" cy="1037844"/>
            </a:xfrm>
            <a:prstGeom prst="roundRect">
              <a:avLst>
                <a:gd name="adj" fmla="val 5286"/>
              </a:avLst>
            </a:prstGeom>
            <a:solidFill>
              <a:srgbClr val="F7FAF7"/>
            </a:solidFill>
            <a:ln w="9525">
              <a:solidFill>
                <a:srgbClr val="D8E3DA"/>
              </a:solidFill>
              <a:prstDash val="solid"/>
            </a:ln>
          </p:spPr>
        </p:sp>
        <p:sp>
          <p:nvSpPr>
            <p:cNvPr id="51" name="Shape 41"/>
            <p:cNvSpPr/>
            <p:nvPr/>
          </p:nvSpPr>
          <p:spPr>
            <a:xfrm>
              <a:off x="3406140" y="5250942"/>
              <a:ext cx="347472" cy="347472"/>
            </a:xfrm>
            <a:prstGeom prst="ellipse">
              <a:avLst/>
            </a:prstGeom>
            <a:solidFill>
              <a:srgbClr val="2F6B3A"/>
            </a:solidFill>
            <a:ln/>
          </p:spPr>
        </p:sp>
        <p:pic>
          <p:nvPicPr>
            <p:cNvPr id="52" name="Image 8" descr="/home/claude/work/build/icons/cloud_white.png"/>
            <p:cNvPicPr>
              <a:picLocks noChangeAspect="1"/>
            </p:cNvPicPr>
            <p:nvPr/>
          </p:nvPicPr>
          <p:blipFill>
            <a:blip r:embed="rId18"/>
            <a:stretch>
              <a:fillRect/>
            </a:stretch>
          </p:blipFill>
          <p:spPr>
            <a:xfrm>
              <a:off x="3483864" y="5328666"/>
              <a:ext cx="192024" cy="192024"/>
            </a:xfrm>
            <a:prstGeom prst="rect">
              <a:avLst/>
            </a:prstGeom>
          </p:spPr>
        </p:pic>
        <p:sp>
          <p:nvSpPr>
            <p:cNvPr id="53" name="Text 42"/>
            <p:cNvSpPr/>
            <p:nvPr/>
          </p:nvSpPr>
          <p:spPr>
            <a:xfrm>
              <a:off x="3845052" y="4978908"/>
              <a:ext cx="2043684" cy="237744"/>
            </a:xfrm>
            <a:prstGeom prst="rect">
              <a:avLst/>
            </a:prstGeom>
            <a:noFill/>
            <a:ln/>
          </p:spPr>
          <p:txBody>
            <a:bodyPr wrap="square" rtlCol="0" anchor="ctr"/>
            <a:lstStyle/>
            <a:p>
              <a:pPr marL="0" indent="0">
                <a:buNone/>
              </a:pPr>
              <a:r>
                <a:rPr lang="en-US" sz="1200" b="1" dirty="0">
                  <a:solidFill>
                    <a:srgbClr val="15291F"/>
                  </a:solidFill>
                  <a:latin typeface="Calibri" pitchFamily="34" charset="0"/>
                  <a:ea typeface="Calibri" pitchFamily="34" charset="-122"/>
                  <a:cs typeface="Calibri" pitchFamily="34" charset="-120"/>
                </a:rPr>
                <a:t>Cloud Deployment</a:t>
              </a:r>
              <a:endParaRPr lang="en-US" sz="1200" dirty="0"/>
            </a:p>
          </p:txBody>
        </p:sp>
        <p:sp>
          <p:nvSpPr>
            <p:cNvPr id="54" name="Text 43"/>
            <p:cNvSpPr/>
            <p:nvPr/>
          </p:nvSpPr>
          <p:spPr>
            <a:xfrm>
              <a:off x="3845052" y="5216652"/>
              <a:ext cx="2043684" cy="672084"/>
            </a:xfrm>
            <a:prstGeom prst="rect">
              <a:avLst/>
            </a:prstGeom>
            <a:noFill/>
            <a:ln/>
          </p:spPr>
          <p:txBody>
            <a:bodyPr wrap="square" rtlCol="0" anchor="t"/>
            <a:lstStyle/>
            <a:p>
              <a:pPr marL="0" indent="0">
                <a:buNone/>
              </a:pPr>
              <a:r>
                <a:rPr lang="en-US" sz="1000" dirty="0">
                  <a:solidFill>
                    <a:srgbClr val="3B4A40"/>
                  </a:solidFill>
                  <a:latin typeface="Calibri" pitchFamily="34" charset="0"/>
                  <a:ea typeface="Calibri" pitchFamily="34" charset="-122"/>
                  <a:cs typeface="Calibri" pitchFamily="34" charset="-120"/>
                </a:rPr>
                <a:t>Fully hosted on cloud (AWS / Render) — zero hardware</a:t>
              </a:r>
              <a:endParaRPr lang="en-US" sz="1000" dirty="0"/>
            </a:p>
          </p:txBody>
        </p:sp>
        <p:sp>
          <p:nvSpPr>
            <p:cNvPr id="91" name="Text 69"/>
            <p:cNvSpPr/>
            <p:nvPr/>
          </p:nvSpPr>
          <p:spPr>
            <a:xfrm>
              <a:off x="384048" y="6080760"/>
              <a:ext cx="5623560" cy="274320"/>
            </a:xfrm>
            <a:prstGeom prst="rect">
              <a:avLst/>
            </a:prstGeom>
            <a:noFill/>
            <a:ln/>
          </p:spPr>
          <p:txBody>
            <a:bodyPr wrap="square" rtlCol="0" anchor="ctr"/>
            <a:lstStyle/>
            <a:p>
              <a:pPr marL="0" indent="0">
                <a:buNone/>
              </a:pPr>
              <a:r>
                <a:rPr lang="en-US" sz="1100" i="1" dirty="0">
                  <a:solidFill>
                    <a:srgbClr val="52796F"/>
                  </a:solidFill>
                  <a:latin typeface="Calibri" pitchFamily="34" charset="0"/>
                  <a:ea typeface="Calibri" pitchFamily="34" charset="-122"/>
                  <a:cs typeface="Calibri" pitchFamily="34" charset="-120"/>
                </a:rPr>
                <a:t>Entirely cloud/web-based for this phase — no on-ground hardware or live sensors required.</a:t>
              </a:r>
              <a:endParaRPr lang="en-US" sz="1100" dirty="0"/>
            </a:p>
          </p:txBody>
        </p:sp>
      </p:grpSp>
      <p:grpSp>
        <p:nvGrpSpPr>
          <p:cNvPr id="93" name="Group 92">
            <a:extLst>
              <a:ext uri="{FF2B5EF4-FFF2-40B4-BE49-F238E27FC236}">
                <a16:creationId xmlns:a16="http://schemas.microsoft.com/office/drawing/2014/main" id="{E746B876-1550-16BC-47B8-D3ACDE42081E}"/>
              </a:ext>
            </a:extLst>
          </p:cNvPr>
          <p:cNvGrpSpPr/>
          <p:nvPr/>
        </p:nvGrpSpPr>
        <p:grpSpPr>
          <a:xfrm>
            <a:off x="3506724" y="786384"/>
            <a:ext cx="5001768" cy="64008"/>
            <a:chOff x="502920" y="3332988"/>
            <a:chExt cx="5001768" cy="64008"/>
          </a:xfrm>
        </p:grpSpPr>
        <p:sp>
          <p:nvSpPr>
            <p:cNvPr id="94" name="Shape 10">
              <a:extLst>
                <a:ext uri="{FF2B5EF4-FFF2-40B4-BE49-F238E27FC236}">
                  <a16:creationId xmlns:a16="http://schemas.microsoft.com/office/drawing/2014/main" id="{799D2FBA-4109-6074-0C64-02920AD17A16}"/>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95" name="Shape 11">
              <a:extLst>
                <a:ext uri="{FF2B5EF4-FFF2-40B4-BE49-F238E27FC236}">
                  <a16:creationId xmlns:a16="http://schemas.microsoft.com/office/drawing/2014/main" id="{91529B45-E5BF-AD27-CF4E-6CC563F6187F}"/>
                </a:ext>
              </a:extLst>
            </p:cNvPr>
            <p:cNvSpPr/>
            <p:nvPr/>
          </p:nvSpPr>
          <p:spPr>
            <a:xfrm>
              <a:off x="2971800" y="3332988"/>
              <a:ext cx="64008" cy="64008"/>
            </a:xfrm>
            <a:prstGeom prst="ellipse">
              <a:avLst/>
            </a:prstGeom>
            <a:solidFill>
              <a:srgbClr val="2F6B3A"/>
            </a:solidFill>
            <a:ln/>
          </p:spPr>
        </p:sp>
        <p:sp>
          <p:nvSpPr>
            <p:cNvPr id="96" name="Shape 12">
              <a:extLst>
                <a:ext uri="{FF2B5EF4-FFF2-40B4-BE49-F238E27FC236}">
                  <a16:creationId xmlns:a16="http://schemas.microsoft.com/office/drawing/2014/main" id="{B08C482E-3F7F-D69A-DCEF-02A644ABCDD4}"/>
                </a:ext>
              </a:extLst>
            </p:cNvPr>
            <p:cNvSpPr/>
            <p:nvPr/>
          </p:nvSpPr>
          <p:spPr>
            <a:xfrm>
              <a:off x="3127248" y="3364992"/>
              <a:ext cx="2377440" cy="0"/>
            </a:xfrm>
            <a:prstGeom prst="line">
              <a:avLst/>
            </a:prstGeom>
            <a:noFill/>
            <a:ln w="19050">
              <a:solidFill>
                <a:srgbClr val="2F6B3A"/>
              </a:solidFill>
              <a:prstDash val="solid"/>
            </a:ln>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48BDF-0617-7BBB-3880-CBF7B1FC32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BEC4627-E237-C13C-2EF7-1F0D57835174}"/>
              </a:ext>
            </a:extLst>
          </p:cNvPr>
          <p:cNvSpPr/>
          <p:nvPr/>
        </p:nvSpPr>
        <p:spPr>
          <a:xfrm>
            <a:off x="0" y="0"/>
            <a:ext cx="12191695" cy="6858000"/>
          </a:xfrm>
          <a:prstGeom prst="rect">
            <a:avLst/>
          </a:prstGeom>
          <a:solidFill>
            <a:srgbClr val="FFFFFF"/>
          </a:solidFill>
          <a:ln/>
        </p:spPr>
      </p:sp>
      <p:sp>
        <p:nvSpPr>
          <p:cNvPr id="28" name="Shape 24">
            <a:extLst>
              <a:ext uri="{FF2B5EF4-FFF2-40B4-BE49-F238E27FC236}">
                <a16:creationId xmlns:a16="http://schemas.microsoft.com/office/drawing/2014/main" id="{D150DA19-EDF7-34A5-075A-DB24EDC84D53}"/>
              </a:ext>
            </a:extLst>
          </p:cNvPr>
          <p:cNvSpPr/>
          <p:nvPr/>
        </p:nvSpPr>
        <p:spPr>
          <a:xfrm>
            <a:off x="-304792" y="6531559"/>
            <a:ext cx="2641534" cy="326441"/>
          </a:xfrm>
          <a:prstGeom prst="triangle">
            <a:avLst/>
          </a:prstGeom>
          <a:solidFill>
            <a:srgbClr val="A9C7AC"/>
          </a:solidFill>
          <a:ln/>
        </p:spPr>
      </p:sp>
      <p:sp>
        <p:nvSpPr>
          <p:cNvPr id="29" name="Shape 25">
            <a:extLst>
              <a:ext uri="{FF2B5EF4-FFF2-40B4-BE49-F238E27FC236}">
                <a16:creationId xmlns:a16="http://schemas.microsoft.com/office/drawing/2014/main" id="{68FDD246-A993-BA53-7436-7896338918CF}"/>
              </a:ext>
            </a:extLst>
          </p:cNvPr>
          <p:cNvSpPr/>
          <p:nvPr/>
        </p:nvSpPr>
        <p:spPr>
          <a:xfrm>
            <a:off x="1727157" y="6476695"/>
            <a:ext cx="2641534" cy="326441"/>
          </a:xfrm>
          <a:prstGeom prst="triangle">
            <a:avLst/>
          </a:prstGeom>
          <a:solidFill>
            <a:srgbClr val="A9C7AC"/>
          </a:solidFill>
          <a:ln/>
        </p:spPr>
      </p:sp>
      <p:sp>
        <p:nvSpPr>
          <p:cNvPr id="30" name="Shape 26">
            <a:extLst>
              <a:ext uri="{FF2B5EF4-FFF2-40B4-BE49-F238E27FC236}">
                <a16:creationId xmlns:a16="http://schemas.microsoft.com/office/drawing/2014/main" id="{F39C49B5-0A28-0E20-7423-5709D8FEF581}"/>
              </a:ext>
            </a:extLst>
          </p:cNvPr>
          <p:cNvSpPr/>
          <p:nvPr/>
        </p:nvSpPr>
        <p:spPr>
          <a:xfrm>
            <a:off x="3759106" y="6421831"/>
            <a:ext cx="2641534" cy="326441"/>
          </a:xfrm>
          <a:prstGeom prst="triangle">
            <a:avLst/>
          </a:prstGeom>
          <a:solidFill>
            <a:srgbClr val="A9C7AC"/>
          </a:solidFill>
          <a:ln/>
        </p:spPr>
      </p:sp>
      <p:sp>
        <p:nvSpPr>
          <p:cNvPr id="31" name="Shape 27">
            <a:extLst>
              <a:ext uri="{FF2B5EF4-FFF2-40B4-BE49-F238E27FC236}">
                <a16:creationId xmlns:a16="http://schemas.microsoft.com/office/drawing/2014/main" id="{AC1E2219-3D80-A374-9439-F6404FF74112}"/>
              </a:ext>
            </a:extLst>
          </p:cNvPr>
          <p:cNvSpPr/>
          <p:nvPr/>
        </p:nvSpPr>
        <p:spPr>
          <a:xfrm>
            <a:off x="5791055" y="6531559"/>
            <a:ext cx="2641534" cy="326441"/>
          </a:xfrm>
          <a:prstGeom prst="triangle">
            <a:avLst/>
          </a:prstGeom>
          <a:solidFill>
            <a:srgbClr val="A9C7AC"/>
          </a:solidFill>
          <a:ln/>
        </p:spPr>
      </p:sp>
      <p:sp>
        <p:nvSpPr>
          <p:cNvPr id="32" name="Shape 28">
            <a:extLst>
              <a:ext uri="{FF2B5EF4-FFF2-40B4-BE49-F238E27FC236}">
                <a16:creationId xmlns:a16="http://schemas.microsoft.com/office/drawing/2014/main" id="{A435E885-0AE4-2B74-B9DC-4F56542D6EA8}"/>
              </a:ext>
            </a:extLst>
          </p:cNvPr>
          <p:cNvSpPr/>
          <p:nvPr/>
        </p:nvSpPr>
        <p:spPr>
          <a:xfrm>
            <a:off x="7823004" y="6476695"/>
            <a:ext cx="2641534" cy="326441"/>
          </a:xfrm>
          <a:prstGeom prst="triangle">
            <a:avLst/>
          </a:prstGeom>
          <a:solidFill>
            <a:srgbClr val="A9C7AC"/>
          </a:solidFill>
          <a:ln/>
        </p:spPr>
      </p:sp>
      <p:sp>
        <p:nvSpPr>
          <p:cNvPr id="33" name="Shape 29">
            <a:extLst>
              <a:ext uri="{FF2B5EF4-FFF2-40B4-BE49-F238E27FC236}">
                <a16:creationId xmlns:a16="http://schemas.microsoft.com/office/drawing/2014/main" id="{96ACB367-BD19-D0B4-22B0-7C1D5C6572AC}"/>
              </a:ext>
            </a:extLst>
          </p:cNvPr>
          <p:cNvSpPr/>
          <p:nvPr/>
        </p:nvSpPr>
        <p:spPr>
          <a:xfrm>
            <a:off x="9854954" y="6421831"/>
            <a:ext cx="2641534" cy="326441"/>
          </a:xfrm>
          <a:prstGeom prst="triangle">
            <a:avLst/>
          </a:prstGeom>
          <a:solidFill>
            <a:srgbClr val="A9C7AC"/>
          </a:solidFill>
          <a:ln/>
        </p:spPr>
      </p:sp>
      <p:sp>
        <p:nvSpPr>
          <p:cNvPr id="34" name="Shape 30">
            <a:extLst>
              <a:ext uri="{FF2B5EF4-FFF2-40B4-BE49-F238E27FC236}">
                <a16:creationId xmlns:a16="http://schemas.microsoft.com/office/drawing/2014/main" id="{D1DBE55C-80C8-4741-27D3-5D899522CA51}"/>
              </a:ext>
            </a:extLst>
          </p:cNvPr>
          <p:cNvSpPr/>
          <p:nvPr/>
        </p:nvSpPr>
        <p:spPr>
          <a:xfrm>
            <a:off x="-261251" y="6608369"/>
            <a:ext cx="2264172" cy="249631"/>
          </a:xfrm>
          <a:prstGeom prst="triangle">
            <a:avLst/>
          </a:prstGeom>
          <a:solidFill>
            <a:srgbClr val="5E8E63"/>
          </a:solidFill>
          <a:ln/>
        </p:spPr>
      </p:sp>
      <p:sp>
        <p:nvSpPr>
          <p:cNvPr id="35" name="Shape 31">
            <a:extLst>
              <a:ext uri="{FF2B5EF4-FFF2-40B4-BE49-F238E27FC236}">
                <a16:creationId xmlns:a16="http://schemas.microsoft.com/office/drawing/2014/main" id="{C9854545-6A05-1160-1F4F-EC034767F685}"/>
              </a:ext>
            </a:extLst>
          </p:cNvPr>
          <p:cNvSpPr/>
          <p:nvPr/>
        </p:nvSpPr>
        <p:spPr>
          <a:xfrm>
            <a:off x="1480420" y="6553505"/>
            <a:ext cx="2264172" cy="249631"/>
          </a:xfrm>
          <a:prstGeom prst="triangle">
            <a:avLst/>
          </a:prstGeom>
          <a:solidFill>
            <a:srgbClr val="5E8E63"/>
          </a:solidFill>
          <a:ln/>
        </p:spPr>
      </p:sp>
      <p:sp>
        <p:nvSpPr>
          <p:cNvPr id="36" name="Shape 32">
            <a:extLst>
              <a:ext uri="{FF2B5EF4-FFF2-40B4-BE49-F238E27FC236}">
                <a16:creationId xmlns:a16="http://schemas.microsoft.com/office/drawing/2014/main" id="{E0C3E9D9-FBED-BE50-CEC9-6FD334741258}"/>
              </a:ext>
            </a:extLst>
          </p:cNvPr>
          <p:cNvSpPr/>
          <p:nvPr/>
        </p:nvSpPr>
        <p:spPr>
          <a:xfrm>
            <a:off x="3222091" y="6498641"/>
            <a:ext cx="2264172" cy="249631"/>
          </a:xfrm>
          <a:prstGeom prst="triangle">
            <a:avLst/>
          </a:prstGeom>
          <a:solidFill>
            <a:srgbClr val="5E8E63"/>
          </a:solidFill>
          <a:ln/>
        </p:spPr>
      </p:sp>
      <p:sp>
        <p:nvSpPr>
          <p:cNvPr id="37" name="Shape 33">
            <a:extLst>
              <a:ext uri="{FF2B5EF4-FFF2-40B4-BE49-F238E27FC236}">
                <a16:creationId xmlns:a16="http://schemas.microsoft.com/office/drawing/2014/main" id="{49A13B8E-DB74-A76C-424F-9810DECEADD4}"/>
              </a:ext>
            </a:extLst>
          </p:cNvPr>
          <p:cNvSpPr/>
          <p:nvPr/>
        </p:nvSpPr>
        <p:spPr>
          <a:xfrm>
            <a:off x="4963762" y="6608369"/>
            <a:ext cx="2264172" cy="249631"/>
          </a:xfrm>
          <a:prstGeom prst="triangle">
            <a:avLst/>
          </a:prstGeom>
          <a:solidFill>
            <a:srgbClr val="5E8E63"/>
          </a:solidFill>
          <a:ln/>
        </p:spPr>
      </p:sp>
      <p:sp>
        <p:nvSpPr>
          <p:cNvPr id="38" name="Shape 34">
            <a:extLst>
              <a:ext uri="{FF2B5EF4-FFF2-40B4-BE49-F238E27FC236}">
                <a16:creationId xmlns:a16="http://schemas.microsoft.com/office/drawing/2014/main" id="{37C66066-666F-19D3-6A4F-7A0B429E440F}"/>
              </a:ext>
            </a:extLst>
          </p:cNvPr>
          <p:cNvSpPr/>
          <p:nvPr/>
        </p:nvSpPr>
        <p:spPr>
          <a:xfrm>
            <a:off x="6705432" y="6553505"/>
            <a:ext cx="2264172" cy="249631"/>
          </a:xfrm>
          <a:prstGeom prst="triangle">
            <a:avLst/>
          </a:prstGeom>
          <a:solidFill>
            <a:srgbClr val="5E8E63"/>
          </a:solidFill>
          <a:ln/>
        </p:spPr>
      </p:sp>
      <p:sp>
        <p:nvSpPr>
          <p:cNvPr id="39" name="Shape 35">
            <a:extLst>
              <a:ext uri="{FF2B5EF4-FFF2-40B4-BE49-F238E27FC236}">
                <a16:creationId xmlns:a16="http://schemas.microsoft.com/office/drawing/2014/main" id="{6F2231B0-07DA-AD59-3E68-C92117EADC9D}"/>
              </a:ext>
            </a:extLst>
          </p:cNvPr>
          <p:cNvSpPr/>
          <p:nvPr/>
        </p:nvSpPr>
        <p:spPr>
          <a:xfrm>
            <a:off x="8447103" y="6498641"/>
            <a:ext cx="2264172" cy="249631"/>
          </a:xfrm>
          <a:prstGeom prst="triangle">
            <a:avLst/>
          </a:prstGeom>
          <a:solidFill>
            <a:srgbClr val="5E8E63"/>
          </a:solidFill>
          <a:ln/>
        </p:spPr>
      </p:sp>
      <p:sp>
        <p:nvSpPr>
          <p:cNvPr id="40" name="Shape 36">
            <a:extLst>
              <a:ext uri="{FF2B5EF4-FFF2-40B4-BE49-F238E27FC236}">
                <a16:creationId xmlns:a16="http://schemas.microsoft.com/office/drawing/2014/main" id="{314D948D-20DB-1260-8EDA-AEEFD4ADCBC8}"/>
              </a:ext>
            </a:extLst>
          </p:cNvPr>
          <p:cNvSpPr/>
          <p:nvPr/>
        </p:nvSpPr>
        <p:spPr>
          <a:xfrm>
            <a:off x="10188774" y="6608369"/>
            <a:ext cx="2264172" cy="249631"/>
          </a:xfrm>
          <a:prstGeom prst="triangle">
            <a:avLst/>
          </a:prstGeom>
          <a:solidFill>
            <a:srgbClr val="5E8E63"/>
          </a:solidFill>
          <a:ln/>
        </p:spPr>
      </p:sp>
      <p:sp>
        <p:nvSpPr>
          <p:cNvPr id="41" name="Shape 37">
            <a:extLst>
              <a:ext uri="{FF2B5EF4-FFF2-40B4-BE49-F238E27FC236}">
                <a16:creationId xmlns:a16="http://schemas.microsoft.com/office/drawing/2014/main" id="{3BB5E1B1-7A53-4F69-E871-8D2DC6CC3D03}"/>
              </a:ext>
            </a:extLst>
          </p:cNvPr>
          <p:cNvSpPr/>
          <p:nvPr/>
        </p:nvSpPr>
        <p:spPr>
          <a:xfrm>
            <a:off x="-228594" y="6685178"/>
            <a:ext cx="1981150" cy="172822"/>
          </a:xfrm>
          <a:prstGeom prst="triangle">
            <a:avLst/>
          </a:prstGeom>
          <a:solidFill>
            <a:srgbClr val="1B4332"/>
          </a:solidFill>
          <a:ln/>
        </p:spPr>
      </p:sp>
      <p:sp>
        <p:nvSpPr>
          <p:cNvPr id="42" name="Shape 38">
            <a:extLst>
              <a:ext uri="{FF2B5EF4-FFF2-40B4-BE49-F238E27FC236}">
                <a16:creationId xmlns:a16="http://schemas.microsoft.com/office/drawing/2014/main" id="{36F6EBDD-0B34-3AB7-ABEF-91CB4A375255}"/>
              </a:ext>
            </a:extLst>
          </p:cNvPr>
          <p:cNvSpPr/>
          <p:nvPr/>
        </p:nvSpPr>
        <p:spPr>
          <a:xfrm>
            <a:off x="1295368" y="6630314"/>
            <a:ext cx="1981150" cy="172822"/>
          </a:xfrm>
          <a:prstGeom prst="triangle">
            <a:avLst/>
          </a:prstGeom>
          <a:solidFill>
            <a:srgbClr val="1B4332"/>
          </a:solidFill>
          <a:ln/>
        </p:spPr>
      </p:sp>
      <p:sp>
        <p:nvSpPr>
          <p:cNvPr id="43" name="Shape 39">
            <a:extLst>
              <a:ext uri="{FF2B5EF4-FFF2-40B4-BE49-F238E27FC236}">
                <a16:creationId xmlns:a16="http://schemas.microsoft.com/office/drawing/2014/main" id="{F9B90E8A-7837-B22C-33D2-3217E32BD47E}"/>
              </a:ext>
            </a:extLst>
          </p:cNvPr>
          <p:cNvSpPr/>
          <p:nvPr/>
        </p:nvSpPr>
        <p:spPr>
          <a:xfrm>
            <a:off x="2819330" y="6575450"/>
            <a:ext cx="1981150" cy="172822"/>
          </a:xfrm>
          <a:prstGeom prst="triangle">
            <a:avLst/>
          </a:prstGeom>
          <a:solidFill>
            <a:srgbClr val="1B4332"/>
          </a:solidFill>
          <a:ln/>
        </p:spPr>
      </p:sp>
      <p:sp>
        <p:nvSpPr>
          <p:cNvPr id="44" name="Shape 40">
            <a:extLst>
              <a:ext uri="{FF2B5EF4-FFF2-40B4-BE49-F238E27FC236}">
                <a16:creationId xmlns:a16="http://schemas.microsoft.com/office/drawing/2014/main" id="{E20FBCFA-260D-230E-E515-705BBDB2A67E}"/>
              </a:ext>
            </a:extLst>
          </p:cNvPr>
          <p:cNvSpPr/>
          <p:nvPr/>
        </p:nvSpPr>
        <p:spPr>
          <a:xfrm>
            <a:off x="4343291" y="6685178"/>
            <a:ext cx="1981150" cy="172822"/>
          </a:xfrm>
          <a:prstGeom prst="triangle">
            <a:avLst/>
          </a:prstGeom>
          <a:solidFill>
            <a:srgbClr val="1B4332"/>
          </a:solidFill>
          <a:ln/>
        </p:spPr>
      </p:sp>
      <p:sp>
        <p:nvSpPr>
          <p:cNvPr id="45" name="Shape 41">
            <a:extLst>
              <a:ext uri="{FF2B5EF4-FFF2-40B4-BE49-F238E27FC236}">
                <a16:creationId xmlns:a16="http://schemas.microsoft.com/office/drawing/2014/main" id="{B2852FAA-679A-1A3B-AF6A-52499E84049F}"/>
              </a:ext>
            </a:extLst>
          </p:cNvPr>
          <p:cNvSpPr/>
          <p:nvPr/>
        </p:nvSpPr>
        <p:spPr>
          <a:xfrm>
            <a:off x="5867253" y="6630314"/>
            <a:ext cx="1981150" cy="172822"/>
          </a:xfrm>
          <a:prstGeom prst="triangle">
            <a:avLst/>
          </a:prstGeom>
          <a:solidFill>
            <a:srgbClr val="1B4332"/>
          </a:solidFill>
          <a:ln/>
        </p:spPr>
      </p:sp>
      <p:sp>
        <p:nvSpPr>
          <p:cNvPr id="46" name="Shape 42">
            <a:extLst>
              <a:ext uri="{FF2B5EF4-FFF2-40B4-BE49-F238E27FC236}">
                <a16:creationId xmlns:a16="http://schemas.microsoft.com/office/drawing/2014/main" id="{401B9920-8EEF-799F-30EB-BD211F2A4533}"/>
              </a:ext>
            </a:extLst>
          </p:cNvPr>
          <p:cNvSpPr/>
          <p:nvPr/>
        </p:nvSpPr>
        <p:spPr>
          <a:xfrm>
            <a:off x="7391215" y="6575450"/>
            <a:ext cx="1981150" cy="172822"/>
          </a:xfrm>
          <a:prstGeom prst="triangle">
            <a:avLst/>
          </a:prstGeom>
          <a:solidFill>
            <a:srgbClr val="1B4332"/>
          </a:solidFill>
          <a:ln/>
        </p:spPr>
      </p:sp>
      <p:sp>
        <p:nvSpPr>
          <p:cNvPr id="47" name="Shape 43">
            <a:extLst>
              <a:ext uri="{FF2B5EF4-FFF2-40B4-BE49-F238E27FC236}">
                <a16:creationId xmlns:a16="http://schemas.microsoft.com/office/drawing/2014/main" id="{377C1C4B-64E6-1D12-23E3-3F835FD83103}"/>
              </a:ext>
            </a:extLst>
          </p:cNvPr>
          <p:cNvSpPr/>
          <p:nvPr/>
        </p:nvSpPr>
        <p:spPr>
          <a:xfrm>
            <a:off x="8915177" y="6685178"/>
            <a:ext cx="1981150" cy="172822"/>
          </a:xfrm>
          <a:prstGeom prst="triangle">
            <a:avLst/>
          </a:prstGeom>
          <a:solidFill>
            <a:srgbClr val="1B4332"/>
          </a:solidFill>
          <a:ln/>
        </p:spPr>
      </p:sp>
      <p:sp>
        <p:nvSpPr>
          <p:cNvPr id="48" name="Shape 44">
            <a:extLst>
              <a:ext uri="{FF2B5EF4-FFF2-40B4-BE49-F238E27FC236}">
                <a16:creationId xmlns:a16="http://schemas.microsoft.com/office/drawing/2014/main" id="{503AB198-7844-5985-69C3-9A63CCBD4E08}"/>
              </a:ext>
            </a:extLst>
          </p:cNvPr>
          <p:cNvSpPr/>
          <p:nvPr/>
        </p:nvSpPr>
        <p:spPr>
          <a:xfrm>
            <a:off x="10439139" y="6630314"/>
            <a:ext cx="1981150" cy="172822"/>
          </a:xfrm>
          <a:prstGeom prst="triangle">
            <a:avLst/>
          </a:prstGeom>
          <a:solidFill>
            <a:srgbClr val="1B4332"/>
          </a:solidFill>
          <a:ln/>
        </p:spPr>
      </p:sp>
      <p:sp>
        <p:nvSpPr>
          <p:cNvPr id="10" name="TextBox 9">
            <a:extLst>
              <a:ext uri="{FF2B5EF4-FFF2-40B4-BE49-F238E27FC236}">
                <a16:creationId xmlns:a16="http://schemas.microsoft.com/office/drawing/2014/main" id="{FD0D92A0-C946-7EEC-2F4D-2C466482EB15}"/>
              </a:ext>
            </a:extLst>
          </p:cNvPr>
          <p:cNvSpPr txBox="1"/>
          <p:nvPr/>
        </p:nvSpPr>
        <p:spPr>
          <a:xfrm>
            <a:off x="181218" y="1161986"/>
            <a:ext cx="7416915" cy="5033494"/>
          </a:xfrm>
          <a:prstGeom prst="rect">
            <a:avLst/>
          </a:prstGeom>
          <a:noFill/>
        </p:spPr>
        <p:txBody>
          <a:bodyPr wrap="square">
            <a:spAutoFit/>
          </a:bodyPr>
          <a:lstStyle/>
          <a:p>
            <a:pPr>
              <a:lnSpc>
                <a:spcPct val="150000"/>
              </a:lnSpc>
            </a:pPr>
            <a:r>
              <a:rPr lang="en-IN" b="1" dirty="0"/>
              <a:t>📍 Spatiotemporal Forecasting </a:t>
            </a:r>
            <a:r>
              <a:rPr lang="en-IN" dirty="0"/>
              <a:t>– Predicts where and when risk may increase.</a:t>
            </a:r>
          </a:p>
          <a:p>
            <a:pPr>
              <a:lnSpc>
                <a:spcPct val="150000"/>
              </a:lnSpc>
            </a:pPr>
            <a:r>
              <a:rPr lang="en-IN" b="1" dirty="0"/>
              <a:t>🌧️ Multi-Source Data </a:t>
            </a:r>
            <a:r>
              <a:rPr lang="en-IN" dirty="0"/>
              <a:t>– Combines rainfall, soil moisture, terrain, geology, and past landslides.</a:t>
            </a:r>
          </a:p>
          <a:p>
            <a:pPr>
              <a:lnSpc>
                <a:spcPct val="150000"/>
              </a:lnSpc>
            </a:pPr>
            <a:r>
              <a:rPr lang="en-IN" b="1" dirty="0"/>
              <a:t>🤖 Advanced AI </a:t>
            </a:r>
            <a:r>
              <a:rPr lang="en-IN" dirty="0"/>
              <a:t>– Uses CNN + BiLSTM + Attention for better pattern analysis.</a:t>
            </a:r>
          </a:p>
          <a:p>
            <a:pPr>
              <a:lnSpc>
                <a:spcPct val="150000"/>
              </a:lnSpc>
            </a:pPr>
            <a:r>
              <a:rPr lang="en-IN" b="1" dirty="0"/>
              <a:t>🔍 Explainable AI </a:t>
            </a:r>
            <a:r>
              <a:rPr lang="en-IN" dirty="0"/>
              <a:t>– Shows why an area is risky.</a:t>
            </a:r>
          </a:p>
          <a:p>
            <a:pPr>
              <a:lnSpc>
                <a:spcPct val="150000"/>
              </a:lnSpc>
            </a:pPr>
            <a:r>
              <a:rPr lang="en-IN" b="1" dirty="0"/>
              <a:t>🗺️ Dynamic Risk Map </a:t>
            </a:r>
            <a:r>
              <a:rPr lang="en-IN" dirty="0"/>
              <a:t>– Displays High / Medium / Low risk zones.</a:t>
            </a:r>
          </a:p>
          <a:p>
            <a:pPr>
              <a:lnSpc>
                <a:spcPct val="150000"/>
              </a:lnSpc>
            </a:pPr>
            <a:r>
              <a:rPr lang="en-IN" b="1" dirty="0"/>
              <a:t>🛣️ Safe Route Intelligence </a:t>
            </a:r>
            <a:r>
              <a:rPr lang="en-IN" dirty="0"/>
              <a:t>– Finds risky areas on a route and suggests safer alternatives.</a:t>
            </a:r>
          </a:p>
          <a:p>
            <a:pPr>
              <a:lnSpc>
                <a:spcPct val="150000"/>
              </a:lnSpc>
            </a:pPr>
            <a:r>
              <a:rPr lang="en-IN" b="1" dirty="0"/>
              <a:t>📡 Offline Support </a:t>
            </a:r>
            <a:r>
              <a:rPr lang="en-IN" dirty="0"/>
              <a:t>– Provides access to risk information during poor connectivity.</a:t>
            </a:r>
          </a:p>
          <a:p>
            <a:pPr>
              <a:lnSpc>
                <a:spcPct val="150000"/>
              </a:lnSpc>
            </a:pPr>
            <a:r>
              <a:rPr lang="en-IN" b="1" dirty="0"/>
              <a:t>🚀 Future Ready </a:t>
            </a:r>
            <a:r>
              <a:rPr lang="en-IN" dirty="0"/>
              <a:t>– Can support real-time monitoring and alerts in the future.</a:t>
            </a:r>
          </a:p>
        </p:txBody>
      </p:sp>
      <p:grpSp>
        <p:nvGrpSpPr>
          <p:cNvPr id="26" name="Group 25">
            <a:extLst>
              <a:ext uri="{FF2B5EF4-FFF2-40B4-BE49-F238E27FC236}">
                <a16:creationId xmlns:a16="http://schemas.microsoft.com/office/drawing/2014/main" id="{03BBCD60-9F29-49AE-F6AE-A282A8C886AC}"/>
              </a:ext>
            </a:extLst>
          </p:cNvPr>
          <p:cNvGrpSpPr/>
          <p:nvPr/>
        </p:nvGrpSpPr>
        <p:grpSpPr>
          <a:xfrm>
            <a:off x="502920" y="232983"/>
            <a:ext cx="7095213" cy="523220"/>
            <a:chOff x="502920" y="391180"/>
            <a:chExt cx="7095213" cy="523220"/>
          </a:xfrm>
        </p:grpSpPr>
        <p:grpSp>
          <p:nvGrpSpPr>
            <p:cNvPr id="55" name="Group 54">
              <a:extLst>
                <a:ext uri="{FF2B5EF4-FFF2-40B4-BE49-F238E27FC236}">
                  <a16:creationId xmlns:a16="http://schemas.microsoft.com/office/drawing/2014/main" id="{8314FFA4-889B-A21C-4CE9-DEBB2119D29A}"/>
                </a:ext>
              </a:extLst>
            </p:cNvPr>
            <p:cNvGrpSpPr/>
            <p:nvPr/>
          </p:nvGrpSpPr>
          <p:grpSpPr>
            <a:xfrm>
              <a:off x="502920" y="438912"/>
              <a:ext cx="3291840" cy="475488"/>
              <a:chOff x="502920" y="438912"/>
              <a:chExt cx="3291840" cy="475488"/>
            </a:xfrm>
          </p:grpSpPr>
          <p:sp>
            <p:nvSpPr>
              <p:cNvPr id="3" name="Shape 1">
                <a:extLst>
                  <a:ext uri="{FF2B5EF4-FFF2-40B4-BE49-F238E27FC236}">
                    <a16:creationId xmlns:a16="http://schemas.microsoft.com/office/drawing/2014/main" id="{646583AB-CB6E-6F8E-0C73-7AE937DE6F95}"/>
                  </a:ext>
                </a:extLst>
              </p:cNvPr>
              <p:cNvSpPr/>
              <p:nvPr/>
            </p:nvSpPr>
            <p:spPr>
              <a:xfrm>
                <a:off x="502920" y="457200"/>
                <a:ext cx="457200" cy="457200"/>
              </a:xfrm>
              <a:prstGeom prst="ellipse">
                <a:avLst/>
              </a:prstGeom>
              <a:solidFill>
                <a:srgbClr val="1B4332"/>
              </a:solidFill>
              <a:ln/>
            </p:spPr>
          </p:sp>
          <p:pic>
            <p:nvPicPr>
              <p:cNvPr id="4" name="Image 0" descr="/home/claude/work/build/icons/leaf_white.png">
                <a:extLst>
                  <a:ext uri="{FF2B5EF4-FFF2-40B4-BE49-F238E27FC236}">
                    <a16:creationId xmlns:a16="http://schemas.microsoft.com/office/drawing/2014/main" id="{BC0EF84A-66C9-D354-9D45-E42671777C32}"/>
                  </a:ext>
                </a:extLst>
              </p:cNvPr>
              <p:cNvPicPr>
                <a:picLocks noChangeAspect="1"/>
              </p:cNvPicPr>
              <p:nvPr/>
            </p:nvPicPr>
            <p:blipFill>
              <a:blip r:embed="rId3"/>
              <a:stretch>
                <a:fillRect/>
              </a:stretch>
            </p:blipFill>
            <p:spPr>
              <a:xfrm>
                <a:off x="603504" y="557784"/>
                <a:ext cx="256032" cy="256032"/>
              </a:xfrm>
              <a:prstGeom prst="rect">
                <a:avLst/>
              </a:prstGeom>
            </p:spPr>
          </p:pic>
          <p:sp>
            <p:nvSpPr>
              <p:cNvPr id="5" name="Text 2">
                <a:extLst>
                  <a:ext uri="{FF2B5EF4-FFF2-40B4-BE49-F238E27FC236}">
                    <a16:creationId xmlns:a16="http://schemas.microsoft.com/office/drawing/2014/main" id="{D377BD3A-BB4C-BC9B-F6FE-5760F6FBEEA9}"/>
                  </a:ext>
                </a:extLst>
              </p:cNvPr>
              <p:cNvSpPr/>
              <p:nvPr/>
            </p:nvSpPr>
            <p:spPr>
              <a:xfrm>
                <a:off x="1051560" y="438912"/>
                <a:ext cx="2743200" cy="274320"/>
              </a:xfrm>
              <a:prstGeom prst="rect">
                <a:avLst/>
              </a:prstGeom>
              <a:noFill/>
              <a:ln/>
            </p:spPr>
            <p:txBody>
              <a:bodyPr wrap="square" rtlCol="0" anchor="ctr"/>
              <a:lstStyle/>
              <a:p>
                <a:pPr marL="0" indent="0">
                  <a:buNone/>
                </a:pPr>
                <a:r>
                  <a:rPr lang="en-US" sz="1500" b="1" kern="0" spc="50" dirty="0">
                    <a:solidFill>
                      <a:srgbClr val="1B4332"/>
                    </a:solidFill>
                    <a:latin typeface="Calibri" pitchFamily="34" charset="0"/>
                    <a:ea typeface="Calibri" pitchFamily="34" charset="-122"/>
                    <a:cs typeface="Calibri" pitchFamily="34" charset="-120"/>
                  </a:rPr>
                  <a:t>TEAM SANJIVANI</a:t>
                </a:r>
                <a:endParaRPr lang="en-US" sz="1500" dirty="0"/>
              </a:p>
            </p:txBody>
          </p:sp>
          <p:sp>
            <p:nvSpPr>
              <p:cNvPr id="6" name="Text 3">
                <a:extLst>
                  <a:ext uri="{FF2B5EF4-FFF2-40B4-BE49-F238E27FC236}">
                    <a16:creationId xmlns:a16="http://schemas.microsoft.com/office/drawing/2014/main" id="{53555304-CAA8-3A9E-52C5-AD4C24BC7DD9}"/>
                  </a:ext>
                </a:extLst>
              </p:cNvPr>
              <p:cNvSpPr/>
              <p:nvPr/>
            </p:nvSpPr>
            <p:spPr>
              <a:xfrm>
                <a:off x="1051560" y="713232"/>
                <a:ext cx="2743200" cy="201168"/>
              </a:xfrm>
              <a:prstGeom prst="rect">
                <a:avLst/>
              </a:prstGeom>
              <a:noFill/>
              <a:ln/>
            </p:spPr>
            <p:txBody>
              <a:bodyPr wrap="square" rtlCol="0" anchor="ctr"/>
              <a:lstStyle/>
              <a:p>
                <a:pPr marL="0" indent="0">
                  <a:buNone/>
                </a:pPr>
                <a:r>
                  <a:rPr lang="en-US" sz="950" i="1" dirty="0">
                    <a:solidFill>
                      <a:srgbClr val="52796F"/>
                    </a:solidFill>
                    <a:latin typeface="Calibri" pitchFamily="34" charset="0"/>
                    <a:ea typeface="Calibri" pitchFamily="34" charset="-122"/>
                    <a:cs typeface="Calibri" pitchFamily="34" charset="-120"/>
                  </a:rPr>
                  <a:t>Team</a:t>
                </a:r>
                <a:endParaRPr lang="en-US" sz="950" dirty="0"/>
              </a:p>
            </p:txBody>
          </p:sp>
        </p:grpSp>
        <p:sp>
          <p:nvSpPr>
            <p:cNvPr id="11" name="TextBox 10">
              <a:extLst>
                <a:ext uri="{FF2B5EF4-FFF2-40B4-BE49-F238E27FC236}">
                  <a16:creationId xmlns:a16="http://schemas.microsoft.com/office/drawing/2014/main" id="{F917AC05-A135-568E-9352-FC80093DCDC0}"/>
                </a:ext>
              </a:extLst>
            </p:cNvPr>
            <p:cNvSpPr txBox="1"/>
            <p:nvPr/>
          </p:nvSpPr>
          <p:spPr>
            <a:xfrm>
              <a:off x="3969026" y="391180"/>
              <a:ext cx="3629107" cy="523220"/>
            </a:xfrm>
            <a:prstGeom prst="rect">
              <a:avLst/>
            </a:prstGeom>
            <a:noFill/>
          </p:spPr>
          <p:txBody>
            <a:bodyPr wrap="square" rtlCol="0">
              <a:spAutoFit/>
            </a:bodyPr>
            <a:lstStyle/>
            <a:p>
              <a:pPr algn="ctr"/>
              <a:r>
                <a:rPr lang="en-IN" sz="2800" b="1" dirty="0"/>
                <a:t>Features/Innovation</a:t>
              </a:r>
            </a:p>
          </p:txBody>
        </p:sp>
      </p:grpSp>
      <p:pic>
        <p:nvPicPr>
          <p:cNvPr id="25" name="Picture 24">
            <a:extLst>
              <a:ext uri="{FF2B5EF4-FFF2-40B4-BE49-F238E27FC236}">
                <a16:creationId xmlns:a16="http://schemas.microsoft.com/office/drawing/2014/main" id="{50BFD2B6-C2A7-1B41-7487-A02E4CF19986}"/>
              </a:ext>
            </a:extLst>
          </p:cNvPr>
          <p:cNvPicPr>
            <a:picLocks noChangeAspect="1"/>
          </p:cNvPicPr>
          <p:nvPr/>
        </p:nvPicPr>
        <p:blipFill>
          <a:blip r:embed="rId4"/>
          <a:srcRect t="6666"/>
          <a:stretch>
            <a:fillRect/>
          </a:stretch>
        </p:blipFill>
        <p:spPr>
          <a:xfrm>
            <a:off x="7699242" y="782485"/>
            <a:ext cx="4470402" cy="5792965"/>
          </a:xfrm>
          <a:prstGeom prst="rect">
            <a:avLst/>
          </a:prstGeom>
        </p:spPr>
      </p:pic>
      <p:grpSp>
        <p:nvGrpSpPr>
          <p:cNvPr id="27" name="Group 26">
            <a:extLst>
              <a:ext uri="{FF2B5EF4-FFF2-40B4-BE49-F238E27FC236}">
                <a16:creationId xmlns:a16="http://schemas.microsoft.com/office/drawing/2014/main" id="{EEB53879-F710-E0F4-7475-BC1B8C78588B}"/>
              </a:ext>
            </a:extLst>
          </p:cNvPr>
          <p:cNvGrpSpPr/>
          <p:nvPr/>
        </p:nvGrpSpPr>
        <p:grpSpPr>
          <a:xfrm>
            <a:off x="3047924" y="750481"/>
            <a:ext cx="5001768" cy="64008"/>
            <a:chOff x="502920" y="3332988"/>
            <a:chExt cx="5001768" cy="64008"/>
          </a:xfrm>
        </p:grpSpPr>
        <p:sp>
          <p:nvSpPr>
            <p:cNvPr id="49" name="Shape 10">
              <a:extLst>
                <a:ext uri="{FF2B5EF4-FFF2-40B4-BE49-F238E27FC236}">
                  <a16:creationId xmlns:a16="http://schemas.microsoft.com/office/drawing/2014/main" id="{6EE7BA5B-9C8F-4722-3EAF-1D362909943B}"/>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53" name="Shape 11">
              <a:extLst>
                <a:ext uri="{FF2B5EF4-FFF2-40B4-BE49-F238E27FC236}">
                  <a16:creationId xmlns:a16="http://schemas.microsoft.com/office/drawing/2014/main" id="{3496808A-9820-2FC4-78FB-5266A173AB0C}"/>
                </a:ext>
              </a:extLst>
            </p:cNvPr>
            <p:cNvSpPr/>
            <p:nvPr/>
          </p:nvSpPr>
          <p:spPr>
            <a:xfrm>
              <a:off x="2971800" y="3332988"/>
              <a:ext cx="64008" cy="64008"/>
            </a:xfrm>
            <a:prstGeom prst="ellipse">
              <a:avLst/>
            </a:prstGeom>
            <a:solidFill>
              <a:srgbClr val="2F6B3A"/>
            </a:solidFill>
            <a:ln/>
          </p:spPr>
        </p:sp>
        <p:sp>
          <p:nvSpPr>
            <p:cNvPr id="56" name="Shape 12">
              <a:extLst>
                <a:ext uri="{FF2B5EF4-FFF2-40B4-BE49-F238E27FC236}">
                  <a16:creationId xmlns:a16="http://schemas.microsoft.com/office/drawing/2014/main" id="{0BB5EF01-BA5B-6E71-8309-00F8E18317D5}"/>
                </a:ext>
              </a:extLst>
            </p:cNvPr>
            <p:cNvSpPr/>
            <p:nvPr/>
          </p:nvSpPr>
          <p:spPr>
            <a:xfrm>
              <a:off x="3127248" y="3364992"/>
              <a:ext cx="2377440" cy="0"/>
            </a:xfrm>
            <a:prstGeom prst="line">
              <a:avLst/>
            </a:prstGeom>
            <a:noFill/>
            <a:ln w="19050">
              <a:solidFill>
                <a:srgbClr val="2F6B3A"/>
              </a:solidFill>
              <a:prstDash val="solid"/>
            </a:ln>
          </p:spPr>
        </p:sp>
      </p:grpSp>
    </p:spTree>
    <p:extLst>
      <p:ext uri="{BB962C8B-B14F-4D97-AF65-F5344CB8AC3E}">
        <p14:creationId xmlns:p14="http://schemas.microsoft.com/office/powerpoint/2010/main" val="3441534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3E4C-205C-B1BC-098C-4260327205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F2E5C84-10B5-CD68-3EC5-D6959754E934}"/>
              </a:ext>
            </a:extLst>
          </p:cNvPr>
          <p:cNvSpPr/>
          <p:nvPr/>
        </p:nvSpPr>
        <p:spPr>
          <a:xfrm>
            <a:off x="0" y="0"/>
            <a:ext cx="12191695" cy="6858000"/>
          </a:xfrm>
          <a:prstGeom prst="rect">
            <a:avLst/>
          </a:prstGeom>
          <a:solidFill>
            <a:srgbClr val="FFFFFF"/>
          </a:solidFill>
          <a:ln/>
        </p:spPr>
      </p:sp>
      <p:grpSp>
        <p:nvGrpSpPr>
          <p:cNvPr id="55" name="Group 54">
            <a:extLst>
              <a:ext uri="{FF2B5EF4-FFF2-40B4-BE49-F238E27FC236}">
                <a16:creationId xmlns:a16="http://schemas.microsoft.com/office/drawing/2014/main" id="{9A867FF5-D97C-0490-3988-EA5BA28F4E9A}"/>
              </a:ext>
            </a:extLst>
          </p:cNvPr>
          <p:cNvGrpSpPr/>
          <p:nvPr/>
        </p:nvGrpSpPr>
        <p:grpSpPr>
          <a:xfrm>
            <a:off x="502920" y="438912"/>
            <a:ext cx="3291840" cy="475488"/>
            <a:chOff x="502920" y="438912"/>
            <a:chExt cx="3291840" cy="475488"/>
          </a:xfrm>
        </p:grpSpPr>
        <p:sp>
          <p:nvSpPr>
            <p:cNvPr id="3" name="Shape 1">
              <a:extLst>
                <a:ext uri="{FF2B5EF4-FFF2-40B4-BE49-F238E27FC236}">
                  <a16:creationId xmlns:a16="http://schemas.microsoft.com/office/drawing/2014/main" id="{AAC1DB52-72F7-0DFA-3CEC-95BC760F6AB4}"/>
                </a:ext>
              </a:extLst>
            </p:cNvPr>
            <p:cNvSpPr/>
            <p:nvPr/>
          </p:nvSpPr>
          <p:spPr>
            <a:xfrm>
              <a:off x="502920" y="457200"/>
              <a:ext cx="457200" cy="457200"/>
            </a:xfrm>
            <a:prstGeom prst="ellipse">
              <a:avLst/>
            </a:prstGeom>
            <a:solidFill>
              <a:srgbClr val="1B4332"/>
            </a:solidFill>
            <a:ln/>
          </p:spPr>
        </p:sp>
        <p:pic>
          <p:nvPicPr>
            <p:cNvPr id="4" name="Image 0" descr="/home/claude/work/build/icons/leaf_white.png">
              <a:extLst>
                <a:ext uri="{FF2B5EF4-FFF2-40B4-BE49-F238E27FC236}">
                  <a16:creationId xmlns:a16="http://schemas.microsoft.com/office/drawing/2014/main" id="{49F232FD-CF6C-767E-D18A-92B5C1F83BB9}"/>
                </a:ext>
              </a:extLst>
            </p:cNvPr>
            <p:cNvPicPr>
              <a:picLocks noChangeAspect="1"/>
            </p:cNvPicPr>
            <p:nvPr/>
          </p:nvPicPr>
          <p:blipFill>
            <a:blip r:embed="rId3"/>
            <a:stretch>
              <a:fillRect/>
            </a:stretch>
          </p:blipFill>
          <p:spPr>
            <a:xfrm>
              <a:off x="603504" y="557784"/>
              <a:ext cx="256032" cy="256032"/>
            </a:xfrm>
            <a:prstGeom prst="rect">
              <a:avLst/>
            </a:prstGeom>
          </p:spPr>
        </p:pic>
        <p:sp>
          <p:nvSpPr>
            <p:cNvPr id="5" name="Text 2">
              <a:extLst>
                <a:ext uri="{FF2B5EF4-FFF2-40B4-BE49-F238E27FC236}">
                  <a16:creationId xmlns:a16="http://schemas.microsoft.com/office/drawing/2014/main" id="{7D56982E-791C-339B-6FC3-539ED337BAEE}"/>
                </a:ext>
              </a:extLst>
            </p:cNvPr>
            <p:cNvSpPr/>
            <p:nvPr/>
          </p:nvSpPr>
          <p:spPr>
            <a:xfrm>
              <a:off x="1051560" y="438912"/>
              <a:ext cx="2743200" cy="274320"/>
            </a:xfrm>
            <a:prstGeom prst="rect">
              <a:avLst/>
            </a:prstGeom>
            <a:noFill/>
            <a:ln/>
          </p:spPr>
          <p:txBody>
            <a:bodyPr wrap="square" rtlCol="0" anchor="ctr"/>
            <a:lstStyle/>
            <a:p>
              <a:pPr marL="0" indent="0">
                <a:buNone/>
              </a:pPr>
              <a:r>
                <a:rPr lang="en-US" sz="1500" b="1" dirty="0"/>
                <a:t>TEAM SANJIVANI</a:t>
              </a:r>
            </a:p>
          </p:txBody>
        </p:sp>
        <p:sp>
          <p:nvSpPr>
            <p:cNvPr id="6" name="Text 3">
              <a:extLst>
                <a:ext uri="{FF2B5EF4-FFF2-40B4-BE49-F238E27FC236}">
                  <a16:creationId xmlns:a16="http://schemas.microsoft.com/office/drawing/2014/main" id="{84986AA7-665E-761B-9AD7-03365EC337D0}"/>
                </a:ext>
              </a:extLst>
            </p:cNvPr>
            <p:cNvSpPr/>
            <p:nvPr/>
          </p:nvSpPr>
          <p:spPr>
            <a:xfrm>
              <a:off x="1051560" y="713232"/>
              <a:ext cx="2743200" cy="201168"/>
            </a:xfrm>
            <a:prstGeom prst="rect">
              <a:avLst/>
            </a:prstGeom>
            <a:noFill/>
            <a:ln/>
          </p:spPr>
          <p:txBody>
            <a:bodyPr wrap="square" rtlCol="0" anchor="ctr"/>
            <a:lstStyle/>
            <a:p>
              <a:pPr marL="0" indent="0">
                <a:buNone/>
              </a:pPr>
              <a:r>
                <a:rPr lang="en-US" sz="950" i="1" dirty="0">
                  <a:solidFill>
                    <a:srgbClr val="52796F"/>
                  </a:solidFill>
                  <a:latin typeface="Calibri" pitchFamily="34" charset="0"/>
                  <a:ea typeface="Calibri" pitchFamily="34" charset="-122"/>
                  <a:cs typeface="Calibri" pitchFamily="34" charset="-120"/>
                </a:rPr>
                <a:t>Team</a:t>
              </a:r>
              <a:endParaRPr lang="en-US" sz="950" dirty="0"/>
            </a:p>
          </p:txBody>
        </p:sp>
      </p:grpSp>
      <p:sp>
        <p:nvSpPr>
          <p:cNvPr id="8" name="Shape 5">
            <a:extLst>
              <a:ext uri="{FF2B5EF4-FFF2-40B4-BE49-F238E27FC236}">
                <a16:creationId xmlns:a16="http://schemas.microsoft.com/office/drawing/2014/main" id="{1BA0410F-BA4F-61DF-F0F5-E5915BB803A0}"/>
              </a:ext>
            </a:extLst>
          </p:cNvPr>
          <p:cNvSpPr/>
          <p:nvPr/>
        </p:nvSpPr>
        <p:spPr>
          <a:xfrm>
            <a:off x="502920" y="1234440"/>
            <a:ext cx="11183112" cy="0"/>
          </a:xfrm>
          <a:prstGeom prst="line">
            <a:avLst/>
          </a:prstGeom>
          <a:noFill/>
          <a:ln w="12700">
            <a:solidFill>
              <a:srgbClr val="D8E3DA"/>
            </a:solidFill>
            <a:prstDash val="solid"/>
          </a:ln>
        </p:spPr>
      </p:sp>
      <p:sp>
        <p:nvSpPr>
          <p:cNvPr id="50" name="TextBox 49">
            <a:extLst>
              <a:ext uri="{FF2B5EF4-FFF2-40B4-BE49-F238E27FC236}">
                <a16:creationId xmlns:a16="http://schemas.microsoft.com/office/drawing/2014/main" id="{ECC2026E-2367-AB47-D25B-A3C105F24880}"/>
              </a:ext>
            </a:extLst>
          </p:cNvPr>
          <p:cNvSpPr txBox="1"/>
          <p:nvPr/>
        </p:nvSpPr>
        <p:spPr>
          <a:xfrm>
            <a:off x="87086" y="1371600"/>
            <a:ext cx="5092742" cy="5450851"/>
          </a:xfrm>
          <a:prstGeom prst="rect">
            <a:avLst/>
          </a:prstGeom>
          <a:noFill/>
        </p:spPr>
        <p:txBody>
          <a:bodyPr wrap="square" rtlCol="0">
            <a:spAutoFit/>
          </a:bodyPr>
          <a:lstStyle/>
          <a:p>
            <a:pPr>
              <a:lnSpc>
                <a:spcPct val="150000"/>
              </a:lnSpc>
            </a:pPr>
            <a:r>
              <a:rPr lang="en-IN" b="1" dirty="0"/>
              <a:t>🔮 Early Prediction: </a:t>
            </a:r>
            <a:r>
              <a:rPr lang="en-IN" dirty="0"/>
              <a:t>Predicts where and when landslide risk may increase.</a:t>
            </a:r>
          </a:p>
          <a:p>
            <a:pPr>
              <a:lnSpc>
                <a:spcPct val="150000"/>
              </a:lnSpc>
            </a:pPr>
            <a:r>
              <a:rPr lang="en-IN" b="1" dirty="0"/>
              <a:t>🤖 Smart AI Analysis: </a:t>
            </a:r>
            <a:r>
              <a:rPr lang="en-IN" dirty="0"/>
              <a:t>Uses AI to analyse complex environmental data accurately.</a:t>
            </a:r>
          </a:p>
          <a:p>
            <a:pPr>
              <a:lnSpc>
                <a:spcPct val="150000"/>
              </a:lnSpc>
            </a:pPr>
            <a:r>
              <a:rPr lang="en-IN" b="1" dirty="0"/>
              <a:t>🗺️ Risk Identification: </a:t>
            </a:r>
            <a:r>
              <a:rPr lang="en-IN" dirty="0"/>
              <a:t>Classifies areas into 🔴 High, 🟡 Medium, and 🟢 Low-risk zones.</a:t>
            </a:r>
          </a:p>
          <a:p>
            <a:pPr>
              <a:lnSpc>
                <a:spcPct val="150000"/>
              </a:lnSpc>
            </a:pPr>
            <a:r>
              <a:rPr lang="en-IN" b="1" dirty="0"/>
              <a:t>🛣️ Safer Travel: </a:t>
            </a:r>
            <a:r>
              <a:rPr lang="en-IN" dirty="0"/>
              <a:t>Suggests safer routes by identifying risky locations.</a:t>
            </a:r>
          </a:p>
          <a:p>
            <a:pPr>
              <a:lnSpc>
                <a:spcPct val="150000"/>
              </a:lnSpc>
            </a:pPr>
            <a:r>
              <a:rPr lang="en-IN" b="1" dirty="0"/>
              <a:t>🚨 Early Warning Support: </a:t>
            </a:r>
            <a:r>
              <a:rPr lang="en-IN" dirty="0"/>
              <a:t>Can help provide alerts before dangerous situations occur.</a:t>
            </a:r>
          </a:p>
          <a:p>
            <a:pPr>
              <a:lnSpc>
                <a:spcPct val="150000"/>
              </a:lnSpc>
            </a:pPr>
            <a:r>
              <a:rPr lang="en-IN" b="1" dirty="0"/>
              <a:t>📡 Offline Access: </a:t>
            </a:r>
            <a:r>
              <a:rPr lang="en-IN" dirty="0"/>
              <a:t>Risk information can be available even with poor connectivity.</a:t>
            </a:r>
          </a:p>
          <a:p>
            <a:pPr>
              <a:lnSpc>
                <a:spcPct val="150000"/>
              </a:lnSpc>
            </a:pPr>
            <a:r>
              <a:rPr lang="en-IN" b="1" dirty="0"/>
              <a:t> </a:t>
            </a:r>
            <a:endParaRPr lang="en-IN" dirty="0"/>
          </a:p>
        </p:txBody>
      </p:sp>
      <p:sp>
        <p:nvSpPr>
          <p:cNvPr id="9" name="TextBox 8">
            <a:extLst>
              <a:ext uri="{FF2B5EF4-FFF2-40B4-BE49-F238E27FC236}">
                <a16:creationId xmlns:a16="http://schemas.microsoft.com/office/drawing/2014/main" id="{ADE80846-3544-673F-3991-35745D081547}"/>
              </a:ext>
            </a:extLst>
          </p:cNvPr>
          <p:cNvSpPr txBox="1"/>
          <p:nvPr/>
        </p:nvSpPr>
        <p:spPr>
          <a:xfrm>
            <a:off x="3833797" y="444484"/>
            <a:ext cx="3940628"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1B83E9FA-DE07-1FC2-E9A9-03D702562DF2}"/>
              </a:ext>
            </a:extLst>
          </p:cNvPr>
          <p:cNvSpPr txBox="1"/>
          <p:nvPr/>
        </p:nvSpPr>
        <p:spPr>
          <a:xfrm>
            <a:off x="3731188" y="336233"/>
            <a:ext cx="3940628" cy="523220"/>
          </a:xfrm>
          <a:prstGeom prst="rect">
            <a:avLst/>
          </a:prstGeom>
          <a:noFill/>
        </p:spPr>
        <p:txBody>
          <a:bodyPr wrap="square" rtlCol="0">
            <a:spAutoFit/>
          </a:bodyPr>
          <a:lstStyle/>
          <a:p>
            <a:pPr algn="ctr"/>
            <a:r>
              <a:rPr lang="en-US" sz="2800" b="1" dirty="0"/>
              <a:t>Expected Outcomes</a:t>
            </a:r>
            <a:endParaRPr lang="en-IN" sz="2800" b="1" dirty="0"/>
          </a:p>
        </p:txBody>
      </p:sp>
      <p:pic>
        <p:nvPicPr>
          <p:cNvPr id="20" name="Picture 19">
            <a:extLst>
              <a:ext uri="{FF2B5EF4-FFF2-40B4-BE49-F238E27FC236}">
                <a16:creationId xmlns:a16="http://schemas.microsoft.com/office/drawing/2014/main" id="{AEEE541F-7657-E7A0-A7B0-4BD1F6502D82}"/>
              </a:ext>
            </a:extLst>
          </p:cNvPr>
          <p:cNvPicPr>
            <a:picLocks noChangeAspect="1"/>
          </p:cNvPicPr>
          <p:nvPr/>
        </p:nvPicPr>
        <p:blipFill>
          <a:blip r:embed="rId4"/>
          <a:stretch>
            <a:fillRect/>
          </a:stretch>
        </p:blipFill>
        <p:spPr>
          <a:xfrm>
            <a:off x="5355771" y="1335024"/>
            <a:ext cx="6836229" cy="5078489"/>
          </a:xfrm>
          <a:prstGeom prst="rect">
            <a:avLst/>
          </a:prstGeom>
        </p:spPr>
      </p:pic>
      <p:grpSp>
        <p:nvGrpSpPr>
          <p:cNvPr id="21" name="Group 20">
            <a:extLst>
              <a:ext uri="{FF2B5EF4-FFF2-40B4-BE49-F238E27FC236}">
                <a16:creationId xmlns:a16="http://schemas.microsoft.com/office/drawing/2014/main" id="{E5E98D25-F9E8-DD38-3301-73344EAC7194}"/>
              </a:ext>
            </a:extLst>
          </p:cNvPr>
          <p:cNvGrpSpPr/>
          <p:nvPr/>
        </p:nvGrpSpPr>
        <p:grpSpPr>
          <a:xfrm>
            <a:off x="3077174" y="859453"/>
            <a:ext cx="5001768" cy="64008"/>
            <a:chOff x="502920" y="3332988"/>
            <a:chExt cx="5001768" cy="64008"/>
          </a:xfrm>
        </p:grpSpPr>
        <p:sp>
          <p:nvSpPr>
            <p:cNvPr id="22" name="Shape 10">
              <a:extLst>
                <a:ext uri="{FF2B5EF4-FFF2-40B4-BE49-F238E27FC236}">
                  <a16:creationId xmlns:a16="http://schemas.microsoft.com/office/drawing/2014/main" id="{F853DCA9-5FEA-2240-F5D3-1456DC05B4EE}"/>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23" name="Shape 11">
              <a:extLst>
                <a:ext uri="{FF2B5EF4-FFF2-40B4-BE49-F238E27FC236}">
                  <a16:creationId xmlns:a16="http://schemas.microsoft.com/office/drawing/2014/main" id="{C50AC84E-E0FE-8E78-6CA9-8A3B4C7618CA}"/>
                </a:ext>
              </a:extLst>
            </p:cNvPr>
            <p:cNvSpPr/>
            <p:nvPr/>
          </p:nvSpPr>
          <p:spPr>
            <a:xfrm>
              <a:off x="2971800" y="3332988"/>
              <a:ext cx="64008" cy="64008"/>
            </a:xfrm>
            <a:prstGeom prst="ellipse">
              <a:avLst/>
            </a:prstGeom>
            <a:solidFill>
              <a:srgbClr val="2F6B3A"/>
            </a:solidFill>
            <a:ln/>
          </p:spPr>
        </p:sp>
        <p:sp>
          <p:nvSpPr>
            <p:cNvPr id="24" name="Shape 12">
              <a:extLst>
                <a:ext uri="{FF2B5EF4-FFF2-40B4-BE49-F238E27FC236}">
                  <a16:creationId xmlns:a16="http://schemas.microsoft.com/office/drawing/2014/main" id="{93890902-2D44-3053-666A-F50932CE0FD4}"/>
                </a:ext>
              </a:extLst>
            </p:cNvPr>
            <p:cNvSpPr/>
            <p:nvPr/>
          </p:nvSpPr>
          <p:spPr>
            <a:xfrm>
              <a:off x="3127248" y="3364992"/>
              <a:ext cx="2377440" cy="0"/>
            </a:xfrm>
            <a:prstGeom prst="line">
              <a:avLst/>
            </a:prstGeom>
            <a:noFill/>
            <a:ln w="19050">
              <a:solidFill>
                <a:srgbClr val="2F6B3A"/>
              </a:solidFill>
              <a:prstDash val="solid"/>
            </a:ln>
          </p:spPr>
        </p:sp>
      </p:grpSp>
    </p:spTree>
    <p:extLst>
      <p:ext uri="{BB962C8B-B14F-4D97-AF65-F5344CB8AC3E}">
        <p14:creationId xmlns:p14="http://schemas.microsoft.com/office/powerpoint/2010/main" val="1366675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13" name="Shape 10"/>
          <p:cNvSpPr/>
          <p:nvPr/>
        </p:nvSpPr>
        <p:spPr>
          <a:xfrm>
            <a:off x="384048" y="969264"/>
            <a:ext cx="11430000" cy="0"/>
          </a:xfrm>
          <a:prstGeom prst="line">
            <a:avLst/>
          </a:prstGeom>
          <a:noFill/>
          <a:ln w="12700">
            <a:solidFill>
              <a:srgbClr val="D8E3DA"/>
            </a:solidFill>
            <a:prstDash val="solid"/>
          </a:ln>
        </p:spPr>
      </p:sp>
      <p:grpSp>
        <p:nvGrpSpPr>
          <p:cNvPr id="57" name="Group 56">
            <a:extLst>
              <a:ext uri="{FF2B5EF4-FFF2-40B4-BE49-F238E27FC236}">
                <a16:creationId xmlns:a16="http://schemas.microsoft.com/office/drawing/2014/main" id="{A89D2513-93B8-344A-A145-5406AD71468B}"/>
              </a:ext>
            </a:extLst>
          </p:cNvPr>
          <p:cNvGrpSpPr/>
          <p:nvPr/>
        </p:nvGrpSpPr>
        <p:grpSpPr>
          <a:xfrm>
            <a:off x="0" y="1344168"/>
            <a:ext cx="12191695" cy="5385816"/>
            <a:chOff x="0" y="1344168"/>
            <a:chExt cx="12191695" cy="5385816"/>
          </a:xfrm>
        </p:grpSpPr>
        <p:sp>
          <p:nvSpPr>
            <p:cNvPr id="14" name="Shape 11"/>
            <p:cNvSpPr/>
            <p:nvPr/>
          </p:nvSpPr>
          <p:spPr>
            <a:xfrm>
              <a:off x="457200" y="1399032"/>
              <a:ext cx="384048" cy="384048"/>
            </a:xfrm>
            <a:prstGeom prst="ellipse">
              <a:avLst/>
            </a:prstGeom>
            <a:solidFill>
              <a:srgbClr val="2F6B3A"/>
            </a:solidFill>
            <a:ln/>
          </p:spPr>
        </p:sp>
        <p:pic>
          <p:nvPicPr>
            <p:cNvPr id="15" name="Image 1" descr="/home/claude/work/build/icons/cloudsun_white.png"/>
            <p:cNvPicPr>
              <a:picLocks noChangeAspect="1"/>
            </p:cNvPicPr>
            <p:nvPr/>
          </p:nvPicPr>
          <p:blipFill>
            <a:blip r:embed="rId3"/>
            <a:stretch>
              <a:fillRect/>
            </a:stretch>
          </p:blipFill>
          <p:spPr>
            <a:xfrm>
              <a:off x="544068" y="1485900"/>
              <a:ext cx="210312" cy="210312"/>
            </a:xfrm>
            <a:prstGeom prst="rect">
              <a:avLst/>
            </a:prstGeom>
          </p:spPr>
        </p:pic>
        <p:sp>
          <p:nvSpPr>
            <p:cNvPr id="16" name="Text 12"/>
            <p:cNvSpPr/>
            <p:nvPr/>
          </p:nvSpPr>
          <p:spPr>
            <a:xfrm>
              <a:off x="1005840" y="1344168"/>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Historical Rainfall Data</a:t>
              </a:r>
              <a:endParaRPr lang="en-US" sz="2000" dirty="0"/>
            </a:p>
          </p:txBody>
        </p:sp>
        <p:sp>
          <p:nvSpPr>
            <p:cNvPr id="17" name="Text 13"/>
            <p:cNvSpPr/>
            <p:nvPr/>
          </p:nvSpPr>
          <p:spPr>
            <a:xfrm>
              <a:off x="4480560" y="1344168"/>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India Meteorological Department (IMD) — Open climate data archives</a:t>
              </a:r>
              <a:endParaRPr lang="en-US" sz="1600" dirty="0"/>
            </a:p>
          </p:txBody>
        </p:sp>
        <p:sp>
          <p:nvSpPr>
            <p:cNvPr id="18" name="Text 14"/>
            <p:cNvSpPr/>
            <p:nvPr/>
          </p:nvSpPr>
          <p:spPr>
            <a:xfrm>
              <a:off x="10058400" y="1344168"/>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mausam.imd.gov.in</a:t>
              </a:r>
              <a:endParaRPr lang="en-US" sz="1200" dirty="0"/>
            </a:p>
          </p:txBody>
        </p:sp>
        <p:sp>
          <p:nvSpPr>
            <p:cNvPr id="19" name="Shape 15"/>
            <p:cNvSpPr/>
            <p:nvPr/>
          </p:nvSpPr>
          <p:spPr>
            <a:xfrm>
              <a:off x="457200" y="1973798"/>
              <a:ext cx="11384280" cy="0"/>
            </a:xfrm>
            <a:prstGeom prst="line">
              <a:avLst/>
            </a:prstGeom>
            <a:noFill/>
            <a:ln w="9525">
              <a:solidFill>
                <a:srgbClr val="D8E3DA"/>
              </a:solidFill>
              <a:prstDash val="solid"/>
            </a:ln>
          </p:spPr>
        </p:sp>
        <p:sp>
          <p:nvSpPr>
            <p:cNvPr id="20" name="Shape 16"/>
            <p:cNvSpPr/>
            <p:nvPr/>
          </p:nvSpPr>
          <p:spPr>
            <a:xfrm>
              <a:off x="457200" y="2056094"/>
              <a:ext cx="384048" cy="384048"/>
            </a:xfrm>
            <a:prstGeom prst="ellipse">
              <a:avLst/>
            </a:prstGeom>
            <a:solidFill>
              <a:srgbClr val="2F6B3A"/>
            </a:solidFill>
            <a:ln/>
          </p:spPr>
        </p:sp>
        <p:pic>
          <p:nvPicPr>
            <p:cNvPr id="21" name="Image 2" descr="/home/claude/work/build/icons/database_white.png"/>
            <p:cNvPicPr>
              <a:picLocks noChangeAspect="1"/>
            </p:cNvPicPr>
            <p:nvPr/>
          </p:nvPicPr>
          <p:blipFill>
            <a:blip r:embed="rId4"/>
            <a:stretch>
              <a:fillRect/>
            </a:stretch>
          </p:blipFill>
          <p:spPr>
            <a:xfrm>
              <a:off x="544068" y="2142962"/>
              <a:ext cx="210312" cy="210312"/>
            </a:xfrm>
            <a:prstGeom prst="rect">
              <a:avLst/>
            </a:prstGeom>
          </p:spPr>
        </p:pic>
        <p:sp>
          <p:nvSpPr>
            <p:cNvPr id="22" name="Text 17"/>
            <p:cNvSpPr/>
            <p:nvPr/>
          </p:nvSpPr>
          <p:spPr>
            <a:xfrm>
              <a:off x="1005840" y="2001230"/>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Historical Soil Moisture</a:t>
              </a:r>
              <a:endParaRPr lang="en-US" sz="2000" dirty="0"/>
            </a:p>
          </p:txBody>
        </p:sp>
        <p:sp>
          <p:nvSpPr>
            <p:cNvPr id="23" name="Text 18"/>
            <p:cNvSpPr/>
            <p:nvPr/>
          </p:nvSpPr>
          <p:spPr>
            <a:xfrm>
              <a:off x="4480560" y="2001230"/>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NASA SMAP L4 (Soil Moisture Active Passive), via Google Earth Engine catalog</a:t>
              </a:r>
              <a:endParaRPr lang="en-US" sz="1600" dirty="0"/>
            </a:p>
          </p:txBody>
        </p:sp>
        <p:sp>
          <p:nvSpPr>
            <p:cNvPr id="24" name="Text 19"/>
            <p:cNvSpPr/>
            <p:nvPr/>
          </p:nvSpPr>
          <p:spPr>
            <a:xfrm>
              <a:off x="10058400" y="2001230"/>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earthengine.google.com</a:t>
              </a:r>
              <a:endParaRPr lang="en-US" sz="1200" dirty="0"/>
            </a:p>
          </p:txBody>
        </p:sp>
        <p:sp>
          <p:nvSpPr>
            <p:cNvPr id="25" name="Shape 20"/>
            <p:cNvSpPr/>
            <p:nvPr/>
          </p:nvSpPr>
          <p:spPr>
            <a:xfrm>
              <a:off x="457200" y="2630859"/>
              <a:ext cx="11384280" cy="0"/>
            </a:xfrm>
            <a:prstGeom prst="line">
              <a:avLst/>
            </a:prstGeom>
            <a:noFill/>
            <a:ln w="9525">
              <a:solidFill>
                <a:srgbClr val="D8E3DA"/>
              </a:solidFill>
              <a:prstDash val="solid"/>
            </a:ln>
          </p:spPr>
        </p:sp>
        <p:sp>
          <p:nvSpPr>
            <p:cNvPr id="26" name="Shape 21"/>
            <p:cNvSpPr/>
            <p:nvPr/>
          </p:nvSpPr>
          <p:spPr>
            <a:xfrm>
              <a:off x="457200" y="2713155"/>
              <a:ext cx="384048" cy="384048"/>
            </a:xfrm>
            <a:prstGeom prst="ellipse">
              <a:avLst/>
            </a:prstGeom>
            <a:solidFill>
              <a:srgbClr val="2F6B3A"/>
            </a:solidFill>
            <a:ln/>
          </p:spPr>
        </p:sp>
        <p:pic>
          <p:nvPicPr>
            <p:cNvPr id="27" name="Image 3" descr="/home/claude/work/build/icons/mountain_white.png"/>
            <p:cNvPicPr>
              <a:picLocks noChangeAspect="1"/>
            </p:cNvPicPr>
            <p:nvPr/>
          </p:nvPicPr>
          <p:blipFill>
            <a:blip r:embed="rId5"/>
            <a:stretch>
              <a:fillRect/>
            </a:stretch>
          </p:blipFill>
          <p:spPr>
            <a:xfrm>
              <a:off x="544068" y="2800023"/>
              <a:ext cx="210312" cy="210312"/>
            </a:xfrm>
            <a:prstGeom prst="rect">
              <a:avLst/>
            </a:prstGeom>
          </p:spPr>
        </p:pic>
        <p:sp>
          <p:nvSpPr>
            <p:cNvPr id="28" name="Text 22"/>
            <p:cNvSpPr/>
            <p:nvPr/>
          </p:nvSpPr>
          <p:spPr>
            <a:xfrm>
              <a:off x="1005840" y="2658291"/>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Terrain &amp; Slope Data</a:t>
              </a:r>
              <a:endParaRPr lang="en-US" sz="2000" dirty="0"/>
            </a:p>
          </p:txBody>
        </p:sp>
        <p:sp>
          <p:nvSpPr>
            <p:cNvPr id="29" name="Text 23"/>
            <p:cNvSpPr/>
            <p:nvPr/>
          </p:nvSpPr>
          <p:spPr>
            <a:xfrm>
              <a:off x="4480560" y="2658291"/>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ISRO Bhuvan — DEM and disaster-thematic geospatial layers</a:t>
              </a:r>
              <a:endParaRPr lang="en-US" sz="1600" dirty="0"/>
            </a:p>
          </p:txBody>
        </p:sp>
        <p:sp>
          <p:nvSpPr>
            <p:cNvPr id="30" name="Text 24"/>
            <p:cNvSpPr/>
            <p:nvPr/>
          </p:nvSpPr>
          <p:spPr>
            <a:xfrm>
              <a:off x="10058400" y="2658291"/>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bhuvan.nrsc.gov.in</a:t>
              </a:r>
              <a:endParaRPr lang="en-US" sz="1200" dirty="0"/>
            </a:p>
          </p:txBody>
        </p:sp>
        <p:sp>
          <p:nvSpPr>
            <p:cNvPr id="31" name="Shape 25"/>
            <p:cNvSpPr/>
            <p:nvPr/>
          </p:nvSpPr>
          <p:spPr>
            <a:xfrm>
              <a:off x="457200" y="3287921"/>
              <a:ext cx="11384280" cy="0"/>
            </a:xfrm>
            <a:prstGeom prst="line">
              <a:avLst/>
            </a:prstGeom>
            <a:noFill/>
            <a:ln w="9525">
              <a:solidFill>
                <a:srgbClr val="D8E3DA"/>
              </a:solidFill>
              <a:prstDash val="solid"/>
            </a:ln>
          </p:spPr>
        </p:sp>
        <p:sp>
          <p:nvSpPr>
            <p:cNvPr id="32" name="Shape 26"/>
            <p:cNvSpPr/>
            <p:nvPr/>
          </p:nvSpPr>
          <p:spPr>
            <a:xfrm>
              <a:off x="457200" y="3370217"/>
              <a:ext cx="384048" cy="384048"/>
            </a:xfrm>
            <a:prstGeom prst="ellipse">
              <a:avLst/>
            </a:prstGeom>
            <a:solidFill>
              <a:srgbClr val="2F6B3A"/>
            </a:solidFill>
            <a:ln/>
          </p:spPr>
        </p:sp>
        <p:pic>
          <p:nvPicPr>
            <p:cNvPr id="33" name="Image 4" descr="/home/claude/work/build/icons/layer_white.png"/>
            <p:cNvPicPr>
              <a:picLocks noChangeAspect="1"/>
            </p:cNvPicPr>
            <p:nvPr/>
          </p:nvPicPr>
          <p:blipFill>
            <a:blip r:embed="rId6"/>
            <a:stretch>
              <a:fillRect/>
            </a:stretch>
          </p:blipFill>
          <p:spPr>
            <a:xfrm>
              <a:off x="544068" y="3457085"/>
              <a:ext cx="210312" cy="210312"/>
            </a:xfrm>
            <a:prstGeom prst="rect">
              <a:avLst/>
            </a:prstGeom>
          </p:spPr>
        </p:pic>
        <p:sp>
          <p:nvSpPr>
            <p:cNvPr id="34" name="Text 27"/>
            <p:cNvSpPr/>
            <p:nvPr/>
          </p:nvSpPr>
          <p:spPr>
            <a:xfrm>
              <a:off x="1005840" y="3315353"/>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Past Landslide Inventory</a:t>
              </a:r>
              <a:endParaRPr lang="en-US" sz="2000" dirty="0"/>
            </a:p>
          </p:txBody>
        </p:sp>
        <p:sp>
          <p:nvSpPr>
            <p:cNvPr id="35" name="Text 28"/>
            <p:cNvSpPr/>
            <p:nvPr/>
          </p:nvSpPr>
          <p:spPr>
            <a:xfrm>
              <a:off x="4480560" y="3315353"/>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Geological Survey of India — Bhukosh geoscience data portal</a:t>
              </a:r>
              <a:endParaRPr lang="en-US" sz="1600" dirty="0"/>
            </a:p>
          </p:txBody>
        </p:sp>
        <p:sp>
          <p:nvSpPr>
            <p:cNvPr id="36" name="Text 29"/>
            <p:cNvSpPr/>
            <p:nvPr/>
          </p:nvSpPr>
          <p:spPr>
            <a:xfrm>
              <a:off x="10058400" y="3315353"/>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bhukosh.gsi.gov.in</a:t>
              </a:r>
              <a:endParaRPr lang="en-US" sz="1200" dirty="0"/>
            </a:p>
          </p:txBody>
        </p:sp>
        <p:sp>
          <p:nvSpPr>
            <p:cNvPr id="37" name="Shape 30"/>
            <p:cNvSpPr/>
            <p:nvPr/>
          </p:nvSpPr>
          <p:spPr>
            <a:xfrm>
              <a:off x="457200" y="3944983"/>
              <a:ext cx="11384280" cy="0"/>
            </a:xfrm>
            <a:prstGeom prst="line">
              <a:avLst/>
            </a:prstGeom>
            <a:noFill/>
            <a:ln w="9525">
              <a:solidFill>
                <a:srgbClr val="D8E3DA"/>
              </a:solidFill>
              <a:prstDash val="solid"/>
            </a:ln>
          </p:spPr>
        </p:sp>
        <p:sp>
          <p:nvSpPr>
            <p:cNvPr id="38" name="Shape 31"/>
            <p:cNvSpPr/>
            <p:nvPr/>
          </p:nvSpPr>
          <p:spPr>
            <a:xfrm>
              <a:off x="457200" y="4027279"/>
              <a:ext cx="384048" cy="384048"/>
            </a:xfrm>
            <a:prstGeom prst="ellipse">
              <a:avLst/>
            </a:prstGeom>
            <a:solidFill>
              <a:srgbClr val="2F6B3A"/>
            </a:solidFill>
            <a:ln/>
          </p:spPr>
        </p:sp>
        <p:pic>
          <p:nvPicPr>
            <p:cNvPr id="39" name="Image 5" descr="/home/claude/work/build/icons/satellite_white.png"/>
            <p:cNvPicPr>
              <a:picLocks noChangeAspect="1"/>
            </p:cNvPicPr>
            <p:nvPr/>
          </p:nvPicPr>
          <p:blipFill>
            <a:blip r:embed="rId7"/>
            <a:stretch>
              <a:fillRect/>
            </a:stretch>
          </p:blipFill>
          <p:spPr>
            <a:xfrm>
              <a:off x="544068" y="4114147"/>
              <a:ext cx="210312" cy="210312"/>
            </a:xfrm>
            <a:prstGeom prst="rect">
              <a:avLst/>
            </a:prstGeom>
          </p:spPr>
        </p:pic>
        <p:sp>
          <p:nvSpPr>
            <p:cNvPr id="40" name="Text 32"/>
            <p:cNvSpPr/>
            <p:nvPr/>
          </p:nvSpPr>
          <p:spPr>
            <a:xfrm>
              <a:off x="1005840" y="3972415"/>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Satellite Imagery</a:t>
              </a:r>
              <a:endParaRPr lang="en-US" sz="2000" dirty="0"/>
            </a:p>
          </p:txBody>
        </p:sp>
        <p:sp>
          <p:nvSpPr>
            <p:cNvPr id="41" name="Text 33"/>
            <p:cNvSpPr/>
            <p:nvPr/>
          </p:nvSpPr>
          <p:spPr>
            <a:xfrm>
              <a:off x="4480560" y="3972415"/>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Copernicus Sentinel-2 (European Space Agency)</a:t>
              </a:r>
              <a:endParaRPr lang="en-US" sz="1600" dirty="0"/>
            </a:p>
          </p:txBody>
        </p:sp>
        <p:sp>
          <p:nvSpPr>
            <p:cNvPr id="42" name="Text 34"/>
            <p:cNvSpPr/>
            <p:nvPr/>
          </p:nvSpPr>
          <p:spPr>
            <a:xfrm>
              <a:off x="10058400" y="3972415"/>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dataspace.copernicus.eu</a:t>
              </a:r>
              <a:endParaRPr lang="en-US" sz="1200" dirty="0"/>
            </a:p>
          </p:txBody>
        </p:sp>
        <p:sp>
          <p:nvSpPr>
            <p:cNvPr id="43" name="Shape 35"/>
            <p:cNvSpPr/>
            <p:nvPr/>
          </p:nvSpPr>
          <p:spPr>
            <a:xfrm>
              <a:off x="457200" y="4602045"/>
              <a:ext cx="11384280" cy="0"/>
            </a:xfrm>
            <a:prstGeom prst="line">
              <a:avLst/>
            </a:prstGeom>
            <a:noFill/>
            <a:ln w="9525">
              <a:solidFill>
                <a:srgbClr val="D8E3DA"/>
              </a:solidFill>
              <a:prstDash val="solid"/>
            </a:ln>
          </p:spPr>
        </p:sp>
        <p:sp>
          <p:nvSpPr>
            <p:cNvPr id="44" name="Shape 36"/>
            <p:cNvSpPr/>
            <p:nvPr/>
          </p:nvSpPr>
          <p:spPr>
            <a:xfrm>
              <a:off x="457200" y="4684341"/>
              <a:ext cx="384048" cy="384048"/>
            </a:xfrm>
            <a:prstGeom prst="ellipse">
              <a:avLst/>
            </a:prstGeom>
            <a:solidFill>
              <a:srgbClr val="2F6B3A"/>
            </a:solidFill>
            <a:ln/>
          </p:spPr>
        </p:sp>
        <p:pic>
          <p:nvPicPr>
            <p:cNvPr id="45" name="Image 6" descr="/home/claude/work/build/icons/brain_white.png"/>
            <p:cNvPicPr>
              <a:picLocks noChangeAspect="1"/>
            </p:cNvPicPr>
            <p:nvPr/>
          </p:nvPicPr>
          <p:blipFill>
            <a:blip r:embed="rId8"/>
            <a:stretch>
              <a:fillRect/>
            </a:stretch>
          </p:blipFill>
          <p:spPr>
            <a:xfrm>
              <a:off x="544068" y="4771209"/>
              <a:ext cx="210312" cy="210312"/>
            </a:xfrm>
            <a:prstGeom prst="rect">
              <a:avLst/>
            </a:prstGeom>
          </p:spPr>
        </p:pic>
        <p:sp>
          <p:nvSpPr>
            <p:cNvPr id="46" name="Text 37"/>
            <p:cNvSpPr/>
            <p:nvPr/>
          </p:nvSpPr>
          <p:spPr>
            <a:xfrm>
              <a:off x="1005840" y="4629477"/>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Machine Learning</a:t>
              </a:r>
              <a:endParaRPr lang="en-US" sz="2000" dirty="0"/>
            </a:p>
          </p:txBody>
        </p:sp>
        <p:sp>
          <p:nvSpPr>
            <p:cNvPr id="47" name="Text 38"/>
            <p:cNvSpPr/>
            <p:nvPr/>
          </p:nvSpPr>
          <p:spPr>
            <a:xfrm>
              <a:off x="4480560" y="4629477"/>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Scikit-learn &amp; XGBoost documentation</a:t>
              </a:r>
              <a:endParaRPr lang="en-US" sz="1600" dirty="0"/>
            </a:p>
          </p:txBody>
        </p:sp>
        <p:sp>
          <p:nvSpPr>
            <p:cNvPr id="48" name="Text 39"/>
            <p:cNvSpPr/>
            <p:nvPr/>
          </p:nvSpPr>
          <p:spPr>
            <a:xfrm>
              <a:off x="10058400" y="4629477"/>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scikit-learn.org</a:t>
              </a:r>
              <a:endParaRPr lang="en-US" sz="1200" dirty="0"/>
            </a:p>
          </p:txBody>
        </p:sp>
        <p:sp>
          <p:nvSpPr>
            <p:cNvPr id="49" name="Shape 40"/>
            <p:cNvSpPr/>
            <p:nvPr/>
          </p:nvSpPr>
          <p:spPr>
            <a:xfrm>
              <a:off x="457200" y="5259106"/>
              <a:ext cx="11384280" cy="0"/>
            </a:xfrm>
            <a:prstGeom prst="line">
              <a:avLst/>
            </a:prstGeom>
            <a:noFill/>
            <a:ln w="9525">
              <a:solidFill>
                <a:srgbClr val="D8E3DA"/>
              </a:solidFill>
              <a:prstDash val="solid"/>
            </a:ln>
          </p:spPr>
        </p:sp>
        <p:sp>
          <p:nvSpPr>
            <p:cNvPr id="50" name="Shape 41"/>
            <p:cNvSpPr/>
            <p:nvPr/>
          </p:nvSpPr>
          <p:spPr>
            <a:xfrm>
              <a:off x="457200" y="5341402"/>
              <a:ext cx="384048" cy="384048"/>
            </a:xfrm>
            <a:prstGeom prst="ellipse">
              <a:avLst/>
            </a:prstGeom>
            <a:solidFill>
              <a:srgbClr val="2F6B3A"/>
            </a:solidFill>
            <a:ln/>
          </p:spPr>
        </p:sp>
        <p:pic>
          <p:nvPicPr>
            <p:cNvPr id="51" name="Image 7" descr="/home/claude/work/build/icons/map_white.png"/>
            <p:cNvPicPr>
              <a:picLocks noChangeAspect="1"/>
            </p:cNvPicPr>
            <p:nvPr/>
          </p:nvPicPr>
          <p:blipFill>
            <a:blip r:embed="rId9"/>
            <a:stretch>
              <a:fillRect/>
            </a:stretch>
          </p:blipFill>
          <p:spPr>
            <a:xfrm>
              <a:off x="544068" y="5428270"/>
              <a:ext cx="210312" cy="210312"/>
            </a:xfrm>
            <a:prstGeom prst="rect">
              <a:avLst/>
            </a:prstGeom>
          </p:spPr>
        </p:pic>
        <p:sp>
          <p:nvSpPr>
            <p:cNvPr id="52" name="Text 42"/>
            <p:cNvSpPr/>
            <p:nvPr/>
          </p:nvSpPr>
          <p:spPr>
            <a:xfrm>
              <a:off x="1005840" y="5286538"/>
              <a:ext cx="3383280" cy="602198"/>
            </a:xfrm>
            <a:prstGeom prst="rect">
              <a:avLst/>
            </a:prstGeom>
            <a:noFill/>
            <a:ln/>
          </p:spPr>
          <p:txBody>
            <a:bodyPr wrap="square" rtlCol="0" anchor="ctr"/>
            <a:lstStyle/>
            <a:p>
              <a:pPr marL="0" indent="0">
                <a:buNone/>
              </a:pPr>
              <a:r>
                <a:rPr lang="en-US" sz="2000" b="1" dirty="0">
                  <a:solidFill>
                    <a:srgbClr val="15291F"/>
                  </a:solidFill>
                  <a:latin typeface="Calibri" pitchFamily="34" charset="0"/>
                  <a:ea typeface="Calibri" pitchFamily="34" charset="-122"/>
                  <a:cs typeface="Calibri" pitchFamily="34" charset="-120"/>
                </a:rPr>
                <a:t>Geospatial Analysis</a:t>
              </a:r>
              <a:endParaRPr lang="en-US" sz="2000" dirty="0"/>
            </a:p>
          </p:txBody>
        </p:sp>
        <p:sp>
          <p:nvSpPr>
            <p:cNvPr id="53" name="Text 43"/>
            <p:cNvSpPr/>
            <p:nvPr/>
          </p:nvSpPr>
          <p:spPr>
            <a:xfrm>
              <a:off x="4480560" y="5286538"/>
              <a:ext cx="5486400" cy="602198"/>
            </a:xfrm>
            <a:prstGeom prst="rect">
              <a:avLst/>
            </a:prstGeom>
            <a:noFill/>
            <a:ln/>
          </p:spPr>
          <p:txBody>
            <a:bodyPr wrap="square" rtlCol="0" anchor="ctr"/>
            <a:lstStyle/>
            <a:p>
              <a:pPr marL="0" indent="0">
                <a:buNone/>
              </a:pPr>
              <a:r>
                <a:rPr lang="en-US" sz="1600" dirty="0">
                  <a:solidFill>
                    <a:srgbClr val="3B4A40"/>
                  </a:solidFill>
                  <a:latin typeface="Calibri" pitchFamily="34" charset="0"/>
                  <a:ea typeface="Calibri" pitchFamily="34" charset="-122"/>
                  <a:cs typeface="Calibri" pitchFamily="34" charset="-120"/>
                </a:rPr>
                <a:t>PostGIS spatial database documentation</a:t>
              </a:r>
              <a:endParaRPr lang="en-US" sz="1600" dirty="0"/>
            </a:p>
          </p:txBody>
        </p:sp>
        <p:sp>
          <p:nvSpPr>
            <p:cNvPr id="54" name="Text 44"/>
            <p:cNvSpPr/>
            <p:nvPr/>
          </p:nvSpPr>
          <p:spPr>
            <a:xfrm>
              <a:off x="10058400" y="5286538"/>
              <a:ext cx="1783080" cy="602198"/>
            </a:xfrm>
            <a:prstGeom prst="rect">
              <a:avLst/>
            </a:prstGeom>
            <a:noFill/>
            <a:ln/>
          </p:spPr>
          <p:txBody>
            <a:bodyPr wrap="square" rtlCol="0" anchor="ctr"/>
            <a:lstStyle/>
            <a:p>
              <a:pPr marL="0" indent="0" algn="r">
                <a:buNone/>
              </a:pPr>
              <a:r>
                <a:rPr lang="en-US" sz="1200" i="1" dirty="0">
                  <a:solidFill>
                    <a:srgbClr val="2C6E9E"/>
                  </a:solidFill>
                  <a:latin typeface="Calibri" pitchFamily="34" charset="0"/>
                  <a:ea typeface="Calibri" pitchFamily="34" charset="-122"/>
                  <a:cs typeface="Calibri" pitchFamily="34" charset="-120"/>
                </a:rPr>
                <a:t>postgis.net</a:t>
              </a:r>
              <a:endParaRPr lang="en-US" sz="1200" dirty="0"/>
            </a:p>
          </p:txBody>
        </p:sp>
        <p:sp>
          <p:nvSpPr>
            <p:cNvPr id="55" name="Shape 45"/>
            <p:cNvSpPr/>
            <p:nvPr/>
          </p:nvSpPr>
          <p:spPr>
            <a:xfrm>
              <a:off x="0" y="6419088"/>
              <a:ext cx="12191695" cy="310896"/>
            </a:xfrm>
            <a:prstGeom prst="rect">
              <a:avLst/>
            </a:prstGeom>
            <a:solidFill>
              <a:srgbClr val="10231A"/>
            </a:solidFill>
            <a:ln/>
          </p:spPr>
        </p:sp>
      </p:grpSp>
      <p:grpSp>
        <p:nvGrpSpPr>
          <p:cNvPr id="64" name="Group 63">
            <a:extLst>
              <a:ext uri="{FF2B5EF4-FFF2-40B4-BE49-F238E27FC236}">
                <a16:creationId xmlns:a16="http://schemas.microsoft.com/office/drawing/2014/main" id="{F5B0B4FC-26C3-FBC7-B973-F51F714BBF1F}"/>
              </a:ext>
            </a:extLst>
          </p:cNvPr>
          <p:cNvGrpSpPr/>
          <p:nvPr/>
        </p:nvGrpSpPr>
        <p:grpSpPr>
          <a:xfrm>
            <a:off x="384048" y="237744"/>
            <a:ext cx="9061704" cy="490427"/>
            <a:chOff x="384048" y="237744"/>
            <a:chExt cx="9061704" cy="490427"/>
          </a:xfrm>
        </p:grpSpPr>
        <p:grpSp>
          <p:nvGrpSpPr>
            <p:cNvPr id="58" name="Group 57">
              <a:extLst>
                <a:ext uri="{FF2B5EF4-FFF2-40B4-BE49-F238E27FC236}">
                  <a16:creationId xmlns:a16="http://schemas.microsoft.com/office/drawing/2014/main" id="{8B28BE58-83BA-C160-7988-74EE94604506}"/>
                </a:ext>
              </a:extLst>
            </p:cNvPr>
            <p:cNvGrpSpPr/>
            <p:nvPr/>
          </p:nvGrpSpPr>
          <p:grpSpPr>
            <a:xfrm>
              <a:off x="384048" y="237744"/>
              <a:ext cx="9061704" cy="429768"/>
              <a:chOff x="384048" y="237744"/>
              <a:chExt cx="9061704" cy="429768"/>
            </a:xfrm>
          </p:grpSpPr>
          <p:sp>
            <p:nvSpPr>
              <p:cNvPr id="3" name="Shape 1"/>
              <p:cNvSpPr/>
              <p:nvPr/>
            </p:nvSpPr>
            <p:spPr>
              <a:xfrm>
                <a:off x="384048" y="292608"/>
                <a:ext cx="365760" cy="365760"/>
              </a:xfrm>
              <a:prstGeom prst="ellipse">
                <a:avLst/>
              </a:prstGeom>
              <a:solidFill>
                <a:srgbClr val="1B4332"/>
              </a:solidFill>
              <a:ln/>
            </p:spPr>
          </p:sp>
          <p:pic>
            <p:nvPicPr>
              <p:cNvPr id="4" name="Image 0" descr="/home/claude/work/build/icons/leaf_white.png"/>
              <p:cNvPicPr>
                <a:picLocks noChangeAspect="1"/>
              </p:cNvPicPr>
              <p:nvPr/>
            </p:nvPicPr>
            <p:blipFill>
              <a:blip r:embed="rId10"/>
              <a:stretch>
                <a:fillRect/>
              </a:stretch>
            </p:blipFill>
            <p:spPr>
              <a:xfrm>
                <a:off x="466344" y="374904"/>
                <a:ext cx="201168" cy="201168"/>
              </a:xfrm>
              <a:prstGeom prst="rect">
                <a:avLst/>
              </a:prstGeom>
            </p:spPr>
          </p:pic>
          <p:sp>
            <p:nvSpPr>
              <p:cNvPr id="5" name="Text 2"/>
              <p:cNvSpPr/>
              <p:nvPr/>
            </p:nvSpPr>
            <p:spPr>
              <a:xfrm>
                <a:off x="841248" y="274320"/>
                <a:ext cx="2011680" cy="219456"/>
              </a:xfrm>
              <a:prstGeom prst="rect">
                <a:avLst/>
              </a:prstGeom>
              <a:noFill/>
              <a:ln/>
            </p:spPr>
            <p:txBody>
              <a:bodyPr wrap="square" rtlCol="0" anchor="ctr"/>
              <a:lstStyle/>
              <a:p>
                <a:pPr marL="0" indent="0">
                  <a:buNone/>
                </a:pPr>
                <a:r>
                  <a:rPr lang="en-US" sz="1250" b="1" dirty="0"/>
                  <a:t>TEAM SANJIVANI</a:t>
                </a:r>
              </a:p>
            </p:txBody>
          </p:sp>
          <p:sp>
            <p:nvSpPr>
              <p:cNvPr id="6" name="Text 3"/>
              <p:cNvSpPr/>
              <p:nvPr/>
            </p:nvSpPr>
            <p:spPr>
              <a:xfrm>
                <a:off x="841248" y="484632"/>
                <a:ext cx="2011680" cy="182880"/>
              </a:xfrm>
              <a:prstGeom prst="rect">
                <a:avLst/>
              </a:prstGeom>
              <a:noFill/>
              <a:ln/>
            </p:spPr>
            <p:txBody>
              <a:bodyPr wrap="square" rtlCol="0" anchor="ctr"/>
              <a:lstStyle/>
              <a:p>
                <a:pPr marL="0" indent="0">
                  <a:buNone/>
                </a:pPr>
                <a:r>
                  <a:rPr lang="en-US" sz="850" i="1" dirty="0">
                    <a:solidFill>
                      <a:srgbClr val="52796F"/>
                    </a:solidFill>
                    <a:latin typeface="Calibri" pitchFamily="34" charset="0"/>
                    <a:ea typeface="Calibri" pitchFamily="34" charset="-122"/>
                    <a:cs typeface="Calibri" pitchFamily="34" charset="-120"/>
                  </a:rPr>
                  <a:t>Team</a:t>
                </a:r>
                <a:endParaRPr lang="en-US" sz="850" dirty="0"/>
              </a:p>
            </p:txBody>
          </p:sp>
          <p:sp>
            <p:nvSpPr>
              <p:cNvPr id="7" name="Text 4"/>
              <p:cNvSpPr/>
              <p:nvPr/>
            </p:nvSpPr>
            <p:spPr>
              <a:xfrm>
                <a:off x="2743200" y="237744"/>
                <a:ext cx="6702552" cy="384048"/>
              </a:xfrm>
              <a:prstGeom prst="rect">
                <a:avLst/>
              </a:prstGeom>
              <a:noFill/>
              <a:ln/>
            </p:spPr>
            <p:txBody>
              <a:bodyPr wrap="square" rtlCol="0" anchor="ctr"/>
              <a:lstStyle/>
              <a:p>
                <a:pPr marL="0" indent="0" algn="ctr">
                  <a:buNone/>
                </a:pPr>
                <a:r>
                  <a:rPr lang="en-US" sz="2400" b="1" kern="0" spc="50" dirty="0">
                    <a:solidFill>
                      <a:srgbClr val="1B4332"/>
                    </a:solidFill>
                    <a:latin typeface="Cambria" pitchFamily="34" charset="0"/>
                    <a:ea typeface="Cambria" pitchFamily="34" charset="-122"/>
                    <a:cs typeface="Cambria" pitchFamily="34" charset="-120"/>
                  </a:rPr>
                  <a:t>RESEARCH &amp; REFERENCES</a:t>
                </a:r>
                <a:endParaRPr lang="en-US" sz="2400" dirty="0"/>
              </a:p>
            </p:txBody>
          </p:sp>
        </p:grpSp>
        <p:grpSp>
          <p:nvGrpSpPr>
            <p:cNvPr id="59" name="Group 58">
              <a:extLst>
                <a:ext uri="{FF2B5EF4-FFF2-40B4-BE49-F238E27FC236}">
                  <a16:creationId xmlns:a16="http://schemas.microsoft.com/office/drawing/2014/main" id="{DBF964B3-57A4-6DCD-179F-E8AA8B5F8D80}"/>
                </a:ext>
              </a:extLst>
            </p:cNvPr>
            <p:cNvGrpSpPr/>
            <p:nvPr/>
          </p:nvGrpSpPr>
          <p:grpSpPr>
            <a:xfrm>
              <a:off x="3469060" y="664163"/>
              <a:ext cx="5001768" cy="64008"/>
              <a:chOff x="502920" y="3332988"/>
              <a:chExt cx="5001768" cy="64008"/>
            </a:xfrm>
          </p:grpSpPr>
          <p:sp>
            <p:nvSpPr>
              <p:cNvPr id="60" name="Shape 10">
                <a:extLst>
                  <a:ext uri="{FF2B5EF4-FFF2-40B4-BE49-F238E27FC236}">
                    <a16:creationId xmlns:a16="http://schemas.microsoft.com/office/drawing/2014/main" id="{BB8BBAEC-3626-E9CA-DCA7-8004FB4EF56A}"/>
                  </a:ext>
                </a:extLst>
              </p:cNvPr>
              <p:cNvSpPr/>
              <p:nvPr/>
            </p:nvSpPr>
            <p:spPr>
              <a:xfrm>
                <a:off x="502920" y="3364992"/>
                <a:ext cx="2377440" cy="0"/>
              </a:xfrm>
              <a:prstGeom prst="line">
                <a:avLst/>
              </a:prstGeom>
              <a:noFill/>
              <a:ln w="19050">
                <a:solidFill>
                  <a:srgbClr val="2F6B3A"/>
                </a:solidFill>
                <a:prstDash val="solid"/>
              </a:ln>
            </p:spPr>
            <p:txBody>
              <a:bodyPr/>
              <a:lstStyle/>
              <a:p>
                <a:endParaRPr lang="en-IN" dirty="0"/>
              </a:p>
            </p:txBody>
          </p:sp>
          <p:sp>
            <p:nvSpPr>
              <p:cNvPr id="61" name="Shape 11">
                <a:extLst>
                  <a:ext uri="{FF2B5EF4-FFF2-40B4-BE49-F238E27FC236}">
                    <a16:creationId xmlns:a16="http://schemas.microsoft.com/office/drawing/2014/main" id="{28F80517-6196-4AF1-F14A-D42225D3F9F6}"/>
                  </a:ext>
                </a:extLst>
              </p:cNvPr>
              <p:cNvSpPr/>
              <p:nvPr/>
            </p:nvSpPr>
            <p:spPr>
              <a:xfrm>
                <a:off x="2971800" y="3332988"/>
                <a:ext cx="64008" cy="64008"/>
              </a:xfrm>
              <a:prstGeom prst="ellipse">
                <a:avLst/>
              </a:prstGeom>
              <a:solidFill>
                <a:srgbClr val="2F6B3A"/>
              </a:solidFill>
              <a:ln/>
            </p:spPr>
          </p:sp>
          <p:sp>
            <p:nvSpPr>
              <p:cNvPr id="62" name="Shape 12">
                <a:extLst>
                  <a:ext uri="{FF2B5EF4-FFF2-40B4-BE49-F238E27FC236}">
                    <a16:creationId xmlns:a16="http://schemas.microsoft.com/office/drawing/2014/main" id="{7053D58C-0888-5096-3EB8-8B8B57B14A57}"/>
                  </a:ext>
                </a:extLst>
              </p:cNvPr>
              <p:cNvSpPr/>
              <p:nvPr/>
            </p:nvSpPr>
            <p:spPr>
              <a:xfrm>
                <a:off x="3127248" y="3364992"/>
                <a:ext cx="2377440" cy="0"/>
              </a:xfrm>
              <a:prstGeom prst="line">
                <a:avLst/>
              </a:prstGeom>
              <a:noFill/>
              <a:ln w="19050">
                <a:solidFill>
                  <a:srgbClr val="2F6B3A"/>
                </a:solidFill>
                <a:prstDash val="solid"/>
              </a:ln>
            </p:spPr>
          </p:sp>
        </p:grpSp>
      </p:grpSp>
      <p:sp>
        <p:nvSpPr>
          <p:cNvPr id="65" name="TextBox 64">
            <a:extLst>
              <a:ext uri="{FF2B5EF4-FFF2-40B4-BE49-F238E27FC236}">
                <a16:creationId xmlns:a16="http://schemas.microsoft.com/office/drawing/2014/main" id="{33C6D785-4CC6-2E06-DD21-9380D0483006}"/>
              </a:ext>
            </a:extLst>
          </p:cNvPr>
          <p:cNvSpPr txBox="1"/>
          <p:nvPr/>
        </p:nvSpPr>
        <p:spPr>
          <a:xfrm>
            <a:off x="0" y="6405259"/>
            <a:ext cx="12191695" cy="307777"/>
          </a:xfrm>
          <a:prstGeom prst="rect">
            <a:avLst/>
          </a:prstGeom>
          <a:noFill/>
        </p:spPr>
        <p:txBody>
          <a:bodyPr wrap="square" rtlCol="0">
            <a:spAutoFit/>
          </a:bodyPr>
          <a:lstStyle/>
          <a:p>
            <a:pPr algn="ctr"/>
            <a:r>
              <a:rPr lang="en-US" sz="1400" b="1" i="1" dirty="0">
                <a:solidFill>
                  <a:schemeClr val="bg1"/>
                </a:solidFill>
              </a:rPr>
              <a:t>“Predict Risk. Warn Early. Protect Communities.”</a:t>
            </a:r>
            <a:endParaRPr lang="en-IN" sz="1400" b="1" i="1"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1045</Words>
  <Application>Microsoft Office PowerPoint</Application>
  <PresentationFormat>Widescreen</PresentationFormat>
  <Paragraphs>153</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kartiksonawane3333@gmail.com</cp:lastModifiedBy>
  <cp:revision>6</cp:revision>
  <dcterms:created xsi:type="dcterms:W3CDTF">2026-09-11T02:23:04Z</dcterms:created>
  <dcterms:modified xsi:type="dcterms:W3CDTF">2026-09-18T06:44:55Z</dcterms:modified>
</cp:coreProperties>
</file>